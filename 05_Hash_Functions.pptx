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9" r:id="rId14"/>
    <p:sldId id="270" r:id="rId15"/>
    <p:sldId id="264"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6" d="100"/>
          <a:sy n="76" d="100"/>
        </p:scale>
        <p:origin x="36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08B26-1B51-451A-6E5B-6F8D3F5FA4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FD10D7DB-6F36-26A9-E3AC-08571E0770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7ADF266-829F-0EA5-7F90-A939A0E1D844}"/>
              </a:ext>
            </a:extLst>
          </p:cNvPr>
          <p:cNvSpPr>
            <a:spLocks noGrp="1"/>
          </p:cNvSpPr>
          <p:nvPr>
            <p:ph type="dt" sz="half" idx="10"/>
          </p:nvPr>
        </p:nvSpPr>
        <p:spPr/>
        <p:txBody>
          <a:bodyPr/>
          <a:lstStyle/>
          <a:p>
            <a:fld id="{65EBD2D8-FA06-4327-8118-63E22425C0B3}" type="datetimeFigureOut">
              <a:rPr lang="en-GB" smtClean="0"/>
              <a:t>14/11/2024</a:t>
            </a:fld>
            <a:endParaRPr lang="en-GB"/>
          </a:p>
        </p:txBody>
      </p:sp>
      <p:sp>
        <p:nvSpPr>
          <p:cNvPr id="5" name="Footer Placeholder 4">
            <a:extLst>
              <a:ext uri="{FF2B5EF4-FFF2-40B4-BE49-F238E27FC236}">
                <a16:creationId xmlns:a16="http://schemas.microsoft.com/office/drawing/2014/main" id="{1FBE5541-3B51-107B-4939-7ECE8C40E8E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8AF554C-0E40-B3F9-391F-EC5B4AD89C3B}"/>
              </a:ext>
            </a:extLst>
          </p:cNvPr>
          <p:cNvSpPr>
            <a:spLocks noGrp="1"/>
          </p:cNvSpPr>
          <p:nvPr>
            <p:ph type="sldNum" sz="quarter" idx="12"/>
          </p:nvPr>
        </p:nvSpPr>
        <p:spPr/>
        <p:txBody>
          <a:bodyPr/>
          <a:lstStyle/>
          <a:p>
            <a:fld id="{77479651-BFF9-4BE7-9902-55DC46118C2B}" type="slidenum">
              <a:rPr lang="en-GB" smtClean="0"/>
              <a:t>‹#›</a:t>
            </a:fld>
            <a:endParaRPr lang="en-GB"/>
          </a:p>
        </p:txBody>
      </p:sp>
    </p:spTree>
    <p:extLst>
      <p:ext uri="{BB962C8B-B14F-4D97-AF65-F5344CB8AC3E}">
        <p14:creationId xmlns:p14="http://schemas.microsoft.com/office/powerpoint/2010/main" val="24632808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B6526-74A3-9D37-B544-69F0458EBD4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9002071-49CD-1B4F-2EA5-A68E231BF9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7AB1F58-8863-B114-EEF2-A8C15E4A1BF5}"/>
              </a:ext>
            </a:extLst>
          </p:cNvPr>
          <p:cNvSpPr>
            <a:spLocks noGrp="1"/>
          </p:cNvSpPr>
          <p:nvPr>
            <p:ph type="dt" sz="half" idx="10"/>
          </p:nvPr>
        </p:nvSpPr>
        <p:spPr/>
        <p:txBody>
          <a:bodyPr/>
          <a:lstStyle/>
          <a:p>
            <a:fld id="{65EBD2D8-FA06-4327-8118-63E22425C0B3}" type="datetimeFigureOut">
              <a:rPr lang="en-GB" smtClean="0"/>
              <a:t>14/11/2024</a:t>
            </a:fld>
            <a:endParaRPr lang="en-GB"/>
          </a:p>
        </p:txBody>
      </p:sp>
      <p:sp>
        <p:nvSpPr>
          <p:cNvPr id="5" name="Footer Placeholder 4">
            <a:extLst>
              <a:ext uri="{FF2B5EF4-FFF2-40B4-BE49-F238E27FC236}">
                <a16:creationId xmlns:a16="http://schemas.microsoft.com/office/drawing/2014/main" id="{BA47A4EF-C460-6B1F-D06A-9C710E3718A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B10B822-1A73-FD3C-4F1A-54EDF58208F6}"/>
              </a:ext>
            </a:extLst>
          </p:cNvPr>
          <p:cNvSpPr>
            <a:spLocks noGrp="1"/>
          </p:cNvSpPr>
          <p:nvPr>
            <p:ph type="sldNum" sz="quarter" idx="12"/>
          </p:nvPr>
        </p:nvSpPr>
        <p:spPr/>
        <p:txBody>
          <a:bodyPr/>
          <a:lstStyle/>
          <a:p>
            <a:fld id="{77479651-BFF9-4BE7-9902-55DC46118C2B}" type="slidenum">
              <a:rPr lang="en-GB" smtClean="0"/>
              <a:t>‹#›</a:t>
            </a:fld>
            <a:endParaRPr lang="en-GB"/>
          </a:p>
        </p:txBody>
      </p:sp>
    </p:spTree>
    <p:extLst>
      <p:ext uri="{BB962C8B-B14F-4D97-AF65-F5344CB8AC3E}">
        <p14:creationId xmlns:p14="http://schemas.microsoft.com/office/powerpoint/2010/main" val="23845129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0AFF0-CE10-D289-DBAF-B4C7A444A4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9E069505-5AA5-6570-64DB-E0BA8E3837B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2B2E2ED-D9F7-6131-6C47-34C8A965D6B2}"/>
              </a:ext>
            </a:extLst>
          </p:cNvPr>
          <p:cNvSpPr>
            <a:spLocks noGrp="1"/>
          </p:cNvSpPr>
          <p:nvPr>
            <p:ph type="dt" sz="half" idx="10"/>
          </p:nvPr>
        </p:nvSpPr>
        <p:spPr/>
        <p:txBody>
          <a:bodyPr/>
          <a:lstStyle/>
          <a:p>
            <a:fld id="{65EBD2D8-FA06-4327-8118-63E22425C0B3}" type="datetimeFigureOut">
              <a:rPr lang="en-GB" smtClean="0"/>
              <a:t>14/11/2024</a:t>
            </a:fld>
            <a:endParaRPr lang="en-GB"/>
          </a:p>
        </p:txBody>
      </p:sp>
      <p:sp>
        <p:nvSpPr>
          <p:cNvPr id="5" name="Footer Placeholder 4">
            <a:extLst>
              <a:ext uri="{FF2B5EF4-FFF2-40B4-BE49-F238E27FC236}">
                <a16:creationId xmlns:a16="http://schemas.microsoft.com/office/drawing/2014/main" id="{6E5DBC63-3974-FE0D-8B22-5F7F09AC403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E6364BB-7090-3F49-B1BC-00A458140066}"/>
              </a:ext>
            </a:extLst>
          </p:cNvPr>
          <p:cNvSpPr>
            <a:spLocks noGrp="1"/>
          </p:cNvSpPr>
          <p:nvPr>
            <p:ph type="sldNum" sz="quarter" idx="12"/>
          </p:nvPr>
        </p:nvSpPr>
        <p:spPr/>
        <p:txBody>
          <a:bodyPr/>
          <a:lstStyle/>
          <a:p>
            <a:fld id="{77479651-BFF9-4BE7-9902-55DC46118C2B}" type="slidenum">
              <a:rPr lang="en-GB" smtClean="0"/>
              <a:t>‹#›</a:t>
            </a:fld>
            <a:endParaRPr lang="en-GB"/>
          </a:p>
        </p:txBody>
      </p:sp>
    </p:spTree>
    <p:extLst>
      <p:ext uri="{BB962C8B-B14F-4D97-AF65-F5344CB8AC3E}">
        <p14:creationId xmlns:p14="http://schemas.microsoft.com/office/powerpoint/2010/main" val="1882417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CA226-481D-F59F-7B76-F41AC3D2935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11147C9-113F-E907-EB27-3C7811D2182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32A3F3F-7BC0-1E0A-0F80-FE5EF3B2A96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3471D07-727B-8F34-76F8-CE7FB3EB8ACE}"/>
              </a:ext>
            </a:extLst>
          </p:cNvPr>
          <p:cNvSpPr>
            <a:spLocks noGrp="1"/>
          </p:cNvSpPr>
          <p:nvPr>
            <p:ph type="dt" sz="half" idx="10"/>
          </p:nvPr>
        </p:nvSpPr>
        <p:spPr/>
        <p:txBody>
          <a:bodyPr/>
          <a:lstStyle/>
          <a:p>
            <a:fld id="{65EBD2D8-FA06-4327-8118-63E22425C0B3}" type="datetimeFigureOut">
              <a:rPr lang="en-GB" smtClean="0"/>
              <a:t>14/11/2024</a:t>
            </a:fld>
            <a:endParaRPr lang="en-GB"/>
          </a:p>
        </p:txBody>
      </p:sp>
      <p:sp>
        <p:nvSpPr>
          <p:cNvPr id="6" name="Footer Placeholder 5">
            <a:extLst>
              <a:ext uri="{FF2B5EF4-FFF2-40B4-BE49-F238E27FC236}">
                <a16:creationId xmlns:a16="http://schemas.microsoft.com/office/drawing/2014/main" id="{DD5F3ECD-933F-9152-8EFE-334A2A72CE1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1A87665-A4B0-9217-B092-F6A18251BD16}"/>
              </a:ext>
            </a:extLst>
          </p:cNvPr>
          <p:cNvSpPr>
            <a:spLocks noGrp="1"/>
          </p:cNvSpPr>
          <p:nvPr>
            <p:ph type="sldNum" sz="quarter" idx="12"/>
          </p:nvPr>
        </p:nvSpPr>
        <p:spPr/>
        <p:txBody>
          <a:bodyPr/>
          <a:lstStyle/>
          <a:p>
            <a:fld id="{77479651-BFF9-4BE7-9902-55DC46118C2B}" type="slidenum">
              <a:rPr lang="en-GB" smtClean="0"/>
              <a:t>‹#›</a:t>
            </a:fld>
            <a:endParaRPr lang="en-GB"/>
          </a:p>
        </p:txBody>
      </p:sp>
    </p:spTree>
    <p:extLst>
      <p:ext uri="{BB962C8B-B14F-4D97-AF65-F5344CB8AC3E}">
        <p14:creationId xmlns:p14="http://schemas.microsoft.com/office/powerpoint/2010/main" val="1143550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554D1-86F2-01C3-82EC-723D3DCBAE21}"/>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C4F7B28-DB40-B80E-12CD-C99A4E2B15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C6D11CC-92AB-BB51-E9D1-DF308C7D9A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C6DDA070-9B7F-13F8-AD9F-C017C7CAE0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002BFF-AF70-672C-64A9-6EE179565F5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10212AFA-EE61-089D-B2CA-63943C0AD61E}"/>
              </a:ext>
            </a:extLst>
          </p:cNvPr>
          <p:cNvSpPr>
            <a:spLocks noGrp="1"/>
          </p:cNvSpPr>
          <p:nvPr>
            <p:ph type="dt" sz="half" idx="10"/>
          </p:nvPr>
        </p:nvSpPr>
        <p:spPr/>
        <p:txBody>
          <a:bodyPr/>
          <a:lstStyle/>
          <a:p>
            <a:fld id="{65EBD2D8-FA06-4327-8118-63E22425C0B3}" type="datetimeFigureOut">
              <a:rPr lang="en-GB" smtClean="0"/>
              <a:t>14/11/2024</a:t>
            </a:fld>
            <a:endParaRPr lang="en-GB"/>
          </a:p>
        </p:txBody>
      </p:sp>
      <p:sp>
        <p:nvSpPr>
          <p:cNvPr id="8" name="Footer Placeholder 7">
            <a:extLst>
              <a:ext uri="{FF2B5EF4-FFF2-40B4-BE49-F238E27FC236}">
                <a16:creationId xmlns:a16="http://schemas.microsoft.com/office/drawing/2014/main" id="{C93B3923-05A3-8A07-AB55-AC546F93434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DCE847D-54A5-CD17-6156-7C001B3B9856}"/>
              </a:ext>
            </a:extLst>
          </p:cNvPr>
          <p:cNvSpPr>
            <a:spLocks noGrp="1"/>
          </p:cNvSpPr>
          <p:nvPr>
            <p:ph type="sldNum" sz="quarter" idx="12"/>
          </p:nvPr>
        </p:nvSpPr>
        <p:spPr/>
        <p:txBody>
          <a:bodyPr/>
          <a:lstStyle/>
          <a:p>
            <a:fld id="{77479651-BFF9-4BE7-9902-55DC46118C2B}" type="slidenum">
              <a:rPr lang="en-GB" smtClean="0"/>
              <a:t>‹#›</a:t>
            </a:fld>
            <a:endParaRPr lang="en-GB"/>
          </a:p>
        </p:txBody>
      </p:sp>
    </p:spTree>
    <p:extLst>
      <p:ext uri="{BB962C8B-B14F-4D97-AF65-F5344CB8AC3E}">
        <p14:creationId xmlns:p14="http://schemas.microsoft.com/office/powerpoint/2010/main" val="3803519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9D86D-0066-632C-86A3-563BA9C79E6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D179B23-636B-09BE-8C80-7DFC9E3B31AE}"/>
              </a:ext>
            </a:extLst>
          </p:cNvPr>
          <p:cNvSpPr>
            <a:spLocks noGrp="1"/>
          </p:cNvSpPr>
          <p:nvPr>
            <p:ph type="dt" sz="half" idx="10"/>
          </p:nvPr>
        </p:nvSpPr>
        <p:spPr/>
        <p:txBody>
          <a:bodyPr/>
          <a:lstStyle/>
          <a:p>
            <a:fld id="{65EBD2D8-FA06-4327-8118-63E22425C0B3}" type="datetimeFigureOut">
              <a:rPr lang="en-GB" smtClean="0"/>
              <a:t>14/11/2024</a:t>
            </a:fld>
            <a:endParaRPr lang="en-GB"/>
          </a:p>
        </p:txBody>
      </p:sp>
      <p:sp>
        <p:nvSpPr>
          <p:cNvPr id="4" name="Footer Placeholder 3">
            <a:extLst>
              <a:ext uri="{FF2B5EF4-FFF2-40B4-BE49-F238E27FC236}">
                <a16:creationId xmlns:a16="http://schemas.microsoft.com/office/drawing/2014/main" id="{40CF126E-D857-BAF9-C30C-2644ACFB688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2FECA209-A752-85AE-EC8E-A6ABD0FF251A}"/>
              </a:ext>
            </a:extLst>
          </p:cNvPr>
          <p:cNvSpPr>
            <a:spLocks noGrp="1"/>
          </p:cNvSpPr>
          <p:nvPr>
            <p:ph type="sldNum" sz="quarter" idx="12"/>
          </p:nvPr>
        </p:nvSpPr>
        <p:spPr/>
        <p:txBody>
          <a:bodyPr/>
          <a:lstStyle/>
          <a:p>
            <a:fld id="{77479651-BFF9-4BE7-9902-55DC46118C2B}" type="slidenum">
              <a:rPr lang="en-GB" smtClean="0"/>
              <a:t>‹#›</a:t>
            </a:fld>
            <a:endParaRPr lang="en-GB"/>
          </a:p>
        </p:txBody>
      </p:sp>
    </p:spTree>
    <p:extLst>
      <p:ext uri="{BB962C8B-B14F-4D97-AF65-F5344CB8AC3E}">
        <p14:creationId xmlns:p14="http://schemas.microsoft.com/office/powerpoint/2010/main" val="40061600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7DC282-D407-6FB1-138B-33E9167EF588}"/>
              </a:ext>
            </a:extLst>
          </p:cNvPr>
          <p:cNvSpPr>
            <a:spLocks noGrp="1"/>
          </p:cNvSpPr>
          <p:nvPr>
            <p:ph type="dt" sz="half" idx="10"/>
          </p:nvPr>
        </p:nvSpPr>
        <p:spPr/>
        <p:txBody>
          <a:bodyPr/>
          <a:lstStyle/>
          <a:p>
            <a:fld id="{65EBD2D8-FA06-4327-8118-63E22425C0B3}" type="datetimeFigureOut">
              <a:rPr lang="en-GB" smtClean="0"/>
              <a:t>14/11/2024</a:t>
            </a:fld>
            <a:endParaRPr lang="en-GB"/>
          </a:p>
        </p:txBody>
      </p:sp>
      <p:sp>
        <p:nvSpPr>
          <p:cNvPr id="3" name="Footer Placeholder 2">
            <a:extLst>
              <a:ext uri="{FF2B5EF4-FFF2-40B4-BE49-F238E27FC236}">
                <a16:creationId xmlns:a16="http://schemas.microsoft.com/office/drawing/2014/main" id="{DB1C97B5-21B3-BB30-522B-E7A3A29FF4D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003967F-23FB-0A53-8546-A517FA021930}"/>
              </a:ext>
            </a:extLst>
          </p:cNvPr>
          <p:cNvSpPr>
            <a:spLocks noGrp="1"/>
          </p:cNvSpPr>
          <p:nvPr>
            <p:ph type="sldNum" sz="quarter" idx="12"/>
          </p:nvPr>
        </p:nvSpPr>
        <p:spPr/>
        <p:txBody>
          <a:bodyPr/>
          <a:lstStyle/>
          <a:p>
            <a:fld id="{77479651-BFF9-4BE7-9902-55DC46118C2B}" type="slidenum">
              <a:rPr lang="en-GB" smtClean="0"/>
              <a:t>‹#›</a:t>
            </a:fld>
            <a:endParaRPr lang="en-GB"/>
          </a:p>
        </p:txBody>
      </p:sp>
    </p:spTree>
    <p:extLst>
      <p:ext uri="{BB962C8B-B14F-4D97-AF65-F5344CB8AC3E}">
        <p14:creationId xmlns:p14="http://schemas.microsoft.com/office/powerpoint/2010/main" val="17870116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71898-69EF-5C0F-3755-EE5C5FB70C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B9331C8-46B6-CB0A-5D20-09D415F9E4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86C12E6-4427-D24C-C15E-A5583F8AD8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C3E071-B817-2C5C-8BF4-137B9D843E63}"/>
              </a:ext>
            </a:extLst>
          </p:cNvPr>
          <p:cNvSpPr>
            <a:spLocks noGrp="1"/>
          </p:cNvSpPr>
          <p:nvPr>
            <p:ph type="dt" sz="half" idx="10"/>
          </p:nvPr>
        </p:nvSpPr>
        <p:spPr/>
        <p:txBody>
          <a:bodyPr/>
          <a:lstStyle/>
          <a:p>
            <a:fld id="{65EBD2D8-FA06-4327-8118-63E22425C0B3}" type="datetimeFigureOut">
              <a:rPr lang="en-GB" smtClean="0"/>
              <a:t>14/11/2024</a:t>
            </a:fld>
            <a:endParaRPr lang="en-GB"/>
          </a:p>
        </p:txBody>
      </p:sp>
      <p:sp>
        <p:nvSpPr>
          <p:cNvPr id="6" name="Footer Placeholder 5">
            <a:extLst>
              <a:ext uri="{FF2B5EF4-FFF2-40B4-BE49-F238E27FC236}">
                <a16:creationId xmlns:a16="http://schemas.microsoft.com/office/drawing/2014/main" id="{7ACCF49E-DD92-FA0D-BA03-4C6AC0B3422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7FCD357-8B50-62E7-0CBD-091AEB0FD52E}"/>
              </a:ext>
            </a:extLst>
          </p:cNvPr>
          <p:cNvSpPr>
            <a:spLocks noGrp="1"/>
          </p:cNvSpPr>
          <p:nvPr>
            <p:ph type="sldNum" sz="quarter" idx="12"/>
          </p:nvPr>
        </p:nvSpPr>
        <p:spPr/>
        <p:txBody>
          <a:bodyPr/>
          <a:lstStyle/>
          <a:p>
            <a:fld id="{77479651-BFF9-4BE7-9902-55DC46118C2B}" type="slidenum">
              <a:rPr lang="en-GB" smtClean="0"/>
              <a:t>‹#›</a:t>
            </a:fld>
            <a:endParaRPr lang="en-GB"/>
          </a:p>
        </p:txBody>
      </p:sp>
    </p:spTree>
    <p:extLst>
      <p:ext uri="{BB962C8B-B14F-4D97-AF65-F5344CB8AC3E}">
        <p14:creationId xmlns:p14="http://schemas.microsoft.com/office/powerpoint/2010/main" val="33282154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C6B42-CD29-9955-F030-EA993C4413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10C0740-5809-5728-125F-8DADFCC2FD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07B3748-1815-EEA3-23E0-678867E217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40E548-6B7C-538C-6C7F-969D5649D726}"/>
              </a:ext>
            </a:extLst>
          </p:cNvPr>
          <p:cNvSpPr>
            <a:spLocks noGrp="1"/>
          </p:cNvSpPr>
          <p:nvPr>
            <p:ph type="dt" sz="half" idx="10"/>
          </p:nvPr>
        </p:nvSpPr>
        <p:spPr/>
        <p:txBody>
          <a:bodyPr/>
          <a:lstStyle/>
          <a:p>
            <a:fld id="{65EBD2D8-FA06-4327-8118-63E22425C0B3}" type="datetimeFigureOut">
              <a:rPr lang="en-GB" smtClean="0"/>
              <a:t>14/11/2024</a:t>
            </a:fld>
            <a:endParaRPr lang="en-GB"/>
          </a:p>
        </p:txBody>
      </p:sp>
      <p:sp>
        <p:nvSpPr>
          <p:cNvPr id="6" name="Footer Placeholder 5">
            <a:extLst>
              <a:ext uri="{FF2B5EF4-FFF2-40B4-BE49-F238E27FC236}">
                <a16:creationId xmlns:a16="http://schemas.microsoft.com/office/drawing/2014/main" id="{D8E6F090-32E9-7EBF-ACD3-7696ED0FDEF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F87BDE2-088F-C87E-61E0-91E12839F7C4}"/>
              </a:ext>
            </a:extLst>
          </p:cNvPr>
          <p:cNvSpPr>
            <a:spLocks noGrp="1"/>
          </p:cNvSpPr>
          <p:nvPr>
            <p:ph type="sldNum" sz="quarter" idx="12"/>
          </p:nvPr>
        </p:nvSpPr>
        <p:spPr/>
        <p:txBody>
          <a:bodyPr/>
          <a:lstStyle/>
          <a:p>
            <a:fld id="{77479651-BFF9-4BE7-9902-55DC46118C2B}" type="slidenum">
              <a:rPr lang="en-GB" smtClean="0"/>
              <a:t>‹#›</a:t>
            </a:fld>
            <a:endParaRPr lang="en-GB"/>
          </a:p>
        </p:txBody>
      </p:sp>
    </p:spTree>
    <p:extLst>
      <p:ext uri="{BB962C8B-B14F-4D97-AF65-F5344CB8AC3E}">
        <p14:creationId xmlns:p14="http://schemas.microsoft.com/office/powerpoint/2010/main" val="16887920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7BC7A-AB9C-9405-A509-CE545927992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F4064A6-65BE-BF63-8C3C-4A008BC29D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FEF5824-DB35-C33F-178B-1CB027C8BF99}"/>
              </a:ext>
            </a:extLst>
          </p:cNvPr>
          <p:cNvSpPr>
            <a:spLocks noGrp="1"/>
          </p:cNvSpPr>
          <p:nvPr>
            <p:ph type="dt" sz="half" idx="10"/>
          </p:nvPr>
        </p:nvSpPr>
        <p:spPr/>
        <p:txBody>
          <a:bodyPr/>
          <a:lstStyle/>
          <a:p>
            <a:fld id="{65EBD2D8-FA06-4327-8118-63E22425C0B3}" type="datetimeFigureOut">
              <a:rPr lang="en-GB" smtClean="0"/>
              <a:t>14/11/2024</a:t>
            </a:fld>
            <a:endParaRPr lang="en-GB"/>
          </a:p>
        </p:txBody>
      </p:sp>
      <p:sp>
        <p:nvSpPr>
          <p:cNvPr id="5" name="Footer Placeholder 4">
            <a:extLst>
              <a:ext uri="{FF2B5EF4-FFF2-40B4-BE49-F238E27FC236}">
                <a16:creationId xmlns:a16="http://schemas.microsoft.com/office/drawing/2014/main" id="{394DF7EC-2C26-4787-B58D-9B9140C1E9E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729A0D3-9CA9-42C2-970B-F39A0CD78FEF}"/>
              </a:ext>
            </a:extLst>
          </p:cNvPr>
          <p:cNvSpPr>
            <a:spLocks noGrp="1"/>
          </p:cNvSpPr>
          <p:nvPr>
            <p:ph type="sldNum" sz="quarter" idx="12"/>
          </p:nvPr>
        </p:nvSpPr>
        <p:spPr/>
        <p:txBody>
          <a:bodyPr/>
          <a:lstStyle/>
          <a:p>
            <a:fld id="{77479651-BFF9-4BE7-9902-55DC46118C2B}" type="slidenum">
              <a:rPr lang="en-GB" smtClean="0"/>
              <a:t>‹#›</a:t>
            </a:fld>
            <a:endParaRPr lang="en-GB"/>
          </a:p>
        </p:txBody>
      </p:sp>
    </p:spTree>
    <p:extLst>
      <p:ext uri="{BB962C8B-B14F-4D97-AF65-F5344CB8AC3E}">
        <p14:creationId xmlns:p14="http://schemas.microsoft.com/office/powerpoint/2010/main" val="15751450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6F6C76-3D74-1B15-4520-2F6FC5E1B17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F149354-48EB-24B2-EBCD-FF28590782F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787A8E-DA81-E2DA-7BFE-8F31774D4033}"/>
              </a:ext>
            </a:extLst>
          </p:cNvPr>
          <p:cNvSpPr>
            <a:spLocks noGrp="1"/>
          </p:cNvSpPr>
          <p:nvPr>
            <p:ph type="dt" sz="half" idx="10"/>
          </p:nvPr>
        </p:nvSpPr>
        <p:spPr/>
        <p:txBody>
          <a:bodyPr/>
          <a:lstStyle/>
          <a:p>
            <a:fld id="{65EBD2D8-FA06-4327-8118-63E22425C0B3}" type="datetimeFigureOut">
              <a:rPr lang="en-GB" smtClean="0"/>
              <a:t>14/11/2024</a:t>
            </a:fld>
            <a:endParaRPr lang="en-GB"/>
          </a:p>
        </p:txBody>
      </p:sp>
      <p:sp>
        <p:nvSpPr>
          <p:cNvPr id="5" name="Footer Placeholder 4">
            <a:extLst>
              <a:ext uri="{FF2B5EF4-FFF2-40B4-BE49-F238E27FC236}">
                <a16:creationId xmlns:a16="http://schemas.microsoft.com/office/drawing/2014/main" id="{9A1D125E-D520-8267-545A-FED7BE094CB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38369EE-F2D0-AA75-10F1-74E1D225A545}"/>
              </a:ext>
            </a:extLst>
          </p:cNvPr>
          <p:cNvSpPr>
            <a:spLocks noGrp="1"/>
          </p:cNvSpPr>
          <p:nvPr>
            <p:ph type="sldNum" sz="quarter" idx="12"/>
          </p:nvPr>
        </p:nvSpPr>
        <p:spPr/>
        <p:txBody>
          <a:bodyPr/>
          <a:lstStyle/>
          <a:p>
            <a:fld id="{77479651-BFF9-4BE7-9902-55DC46118C2B}" type="slidenum">
              <a:rPr lang="en-GB" smtClean="0"/>
              <a:t>‹#›</a:t>
            </a:fld>
            <a:endParaRPr lang="en-GB"/>
          </a:p>
        </p:txBody>
      </p:sp>
    </p:spTree>
    <p:extLst>
      <p:ext uri="{BB962C8B-B14F-4D97-AF65-F5344CB8AC3E}">
        <p14:creationId xmlns:p14="http://schemas.microsoft.com/office/powerpoint/2010/main" val="4253011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6DF3FD-422B-BF4D-3DBF-24F8696E98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970403D-F8AB-A538-6E21-B621D9D60B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B24EC33-146B-26A8-7B5D-A66D0301E1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5EBD2D8-FA06-4327-8118-63E22425C0B3}" type="datetimeFigureOut">
              <a:rPr lang="en-GB" smtClean="0"/>
              <a:t>14/11/2024</a:t>
            </a:fld>
            <a:endParaRPr lang="en-GB"/>
          </a:p>
        </p:txBody>
      </p:sp>
      <p:sp>
        <p:nvSpPr>
          <p:cNvPr id="5" name="Footer Placeholder 4">
            <a:extLst>
              <a:ext uri="{FF2B5EF4-FFF2-40B4-BE49-F238E27FC236}">
                <a16:creationId xmlns:a16="http://schemas.microsoft.com/office/drawing/2014/main" id="{75A7444A-5E16-6533-66C5-D4FF203FD6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1FF58E24-AB0F-85AF-5B31-01ADA57DC2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7479651-BFF9-4BE7-9902-55DC46118C2B}" type="slidenum">
              <a:rPr lang="en-GB" smtClean="0"/>
              <a:t>‹#›</a:t>
            </a:fld>
            <a:endParaRPr lang="en-GB"/>
          </a:p>
        </p:txBody>
      </p:sp>
    </p:spTree>
    <p:extLst>
      <p:ext uri="{BB962C8B-B14F-4D97-AF65-F5344CB8AC3E}">
        <p14:creationId xmlns:p14="http://schemas.microsoft.com/office/powerpoint/2010/main" val="41312083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C0F3B-1558-A597-14DB-00DE602330B9}"/>
              </a:ext>
            </a:extLst>
          </p:cNvPr>
          <p:cNvSpPr>
            <a:spLocks noGrp="1"/>
          </p:cNvSpPr>
          <p:nvPr>
            <p:ph type="ctrTitle"/>
          </p:nvPr>
        </p:nvSpPr>
        <p:spPr/>
        <p:txBody>
          <a:bodyPr/>
          <a:lstStyle/>
          <a:p>
            <a:r>
              <a:rPr lang="en-GB" dirty="0"/>
              <a:t>Hash Functions</a:t>
            </a:r>
          </a:p>
        </p:txBody>
      </p:sp>
      <p:sp>
        <p:nvSpPr>
          <p:cNvPr id="3" name="Subtitle 2">
            <a:extLst>
              <a:ext uri="{FF2B5EF4-FFF2-40B4-BE49-F238E27FC236}">
                <a16:creationId xmlns:a16="http://schemas.microsoft.com/office/drawing/2014/main" id="{03ECE12E-0317-B9FB-A6D6-F2E485DFE991}"/>
              </a:ext>
            </a:extLst>
          </p:cNvPr>
          <p:cNvSpPr>
            <a:spLocks noGrp="1"/>
          </p:cNvSpPr>
          <p:nvPr>
            <p:ph type="subTitle" idx="1"/>
          </p:nvPr>
        </p:nvSpPr>
        <p:spPr/>
        <p:txBody>
          <a:bodyPr/>
          <a:lstStyle/>
          <a:p>
            <a:r>
              <a:rPr lang="en-GB" dirty="0" err="1"/>
              <a:t>Dr.</a:t>
            </a:r>
            <a:r>
              <a:rPr lang="en-GB" dirty="0"/>
              <a:t> Nachiket Tapas</a:t>
            </a:r>
          </a:p>
        </p:txBody>
      </p:sp>
    </p:spTree>
    <p:extLst>
      <p:ext uri="{BB962C8B-B14F-4D97-AF65-F5344CB8AC3E}">
        <p14:creationId xmlns:p14="http://schemas.microsoft.com/office/powerpoint/2010/main" val="32292612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E5A5A-08E3-862F-2825-A9FE5347AB1D}"/>
              </a:ext>
            </a:extLst>
          </p:cNvPr>
          <p:cNvSpPr>
            <a:spLocks noGrp="1"/>
          </p:cNvSpPr>
          <p:nvPr>
            <p:ph type="title"/>
          </p:nvPr>
        </p:nvSpPr>
        <p:spPr/>
        <p:txBody>
          <a:bodyPr/>
          <a:lstStyle/>
          <a:p>
            <a:r>
              <a:rPr lang="en-GB" dirty="0"/>
              <a:t>Introduction to Hash Functions</a:t>
            </a:r>
          </a:p>
        </p:txBody>
      </p:sp>
      <p:sp>
        <p:nvSpPr>
          <p:cNvPr id="3" name="Content Placeholder 2">
            <a:extLst>
              <a:ext uri="{FF2B5EF4-FFF2-40B4-BE49-F238E27FC236}">
                <a16:creationId xmlns:a16="http://schemas.microsoft.com/office/drawing/2014/main" id="{CAA817C0-D578-5ADF-24D7-7C1F311FFCF9}"/>
              </a:ext>
            </a:extLst>
          </p:cNvPr>
          <p:cNvSpPr>
            <a:spLocks noGrp="1"/>
          </p:cNvSpPr>
          <p:nvPr>
            <p:ph idx="1"/>
          </p:nvPr>
        </p:nvSpPr>
        <p:spPr/>
        <p:txBody>
          <a:bodyPr/>
          <a:lstStyle/>
          <a:p>
            <a:r>
              <a:rPr lang="en-GB" dirty="0"/>
              <a:t>A hash function is a function that takes an input (or message) and returns a fixed-size string of bytes. The output is typically a "digest" that uniquely represents the input.</a:t>
            </a:r>
          </a:p>
          <a:p>
            <a:pPr marL="0" indent="0">
              <a:buNone/>
            </a:pPr>
            <a:r>
              <a:rPr lang="en-GB" b="1" dirty="0"/>
              <a:t>Properties</a:t>
            </a:r>
            <a:r>
              <a:rPr lang="en-GB" dirty="0"/>
              <a:t>: </a:t>
            </a:r>
          </a:p>
          <a:p>
            <a:r>
              <a:rPr lang="en-GB" dirty="0">
                <a:solidFill>
                  <a:srgbClr val="FF0000"/>
                </a:solidFill>
              </a:rPr>
              <a:t>Deterministic</a:t>
            </a:r>
            <a:r>
              <a:rPr lang="en-GB" dirty="0"/>
              <a:t>: Same input always produces the same output.</a:t>
            </a:r>
          </a:p>
          <a:p>
            <a:pPr>
              <a:buFont typeface="Arial" panose="020B0604020202020204" pitchFamily="34" charset="0"/>
              <a:buChar char="•"/>
            </a:pPr>
            <a:r>
              <a:rPr lang="en-GB" dirty="0">
                <a:solidFill>
                  <a:srgbClr val="FF0000"/>
                </a:solidFill>
              </a:rPr>
              <a:t>Fixed output length</a:t>
            </a:r>
            <a:r>
              <a:rPr lang="en-GB" dirty="0"/>
              <a:t>: Regardless of input size.</a:t>
            </a:r>
          </a:p>
          <a:p>
            <a:pPr>
              <a:buFont typeface="Arial" panose="020B0604020202020204" pitchFamily="34" charset="0"/>
              <a:buChar char="•"/>
            </a:pPr>
            <a:r>
              <a:rPr lang="en-GB" dirty="0">
                <a:solidFill>
                  <a:srgbClr val="FF0000"/>
                </a:solidFill>
              </a:rPr>
              <a:t>Efficient to compute</a:t>
            </a:r>
            <a:r>
              <a:rPr lang="en-GB" dirty="0"/>
              <a:t>.</a:t>
            </a:r>
          </a:p>
          <a:p>
            <a:pPr>
              <a:buFont typeface="Arial" panose="020B0604020202020204" pitchFamily="34" charset="0"/>
              <a:buChar char="•"/>
            </a:pPr>
            <a:r>
              <a:rPr lang="en-GB" dirty="0">
                <a:solidFill>
                  <a:srgbClr val="FF0000"/>
                </a:solidFill>
              </a:rPr>
              <a:t>Collision-resistant, pre-image resistant, and second pre-image resistant</a:t>
            </a:r>
            <a:r>
              <a:rPr lang="en-GB" dirty="0"/>
              <a:t>.</a:t>
            </a:r>
          </a:p>
          <a:p>
            <a:endParaRPr lang="en-GB" dirty="0"/>
          </a:p>
        </p:txBody>
      </p:sp>
    </p:spTree>
    <p:extLst>
      <p:ext uri="{BB962C8B-B14F-4D97-AF65-F5344CB8AC3E}">
        <p14:creationId xmlns:p14="http://schemas.microsoft.com/office/powerpoint/2010/main" val="941604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DDCB6-DE84-2465-B04B-B43B5F845DDA}"/>
              </a:ext>
            </a:extLst>
          </p:cNvPr>
          <p:cNvSpPr>
            <a:spLocks noGrp="1"/>
          </p:cNvSpPr>
          <p:nvPr>
            <p:ph type="title"/>
          </p:nvPr>
        </p:nvSpPr>
        <p:spPr/>
        <p:txBody>
          <a:bodyPr/>
          <a:lstStyle/>
          <a:p>
            <a:r>
              <a:rPr lang="en-GB" dirty="0"/>
              <a:t>Properties of Collision-Resistant Hash Functions</a:t>
            </a:r>
          </a:p>
        </p:txBody>
      </p:sp>
      <p:sp>
        <p:nvSpPr>
          <p:cNvPr id="3" name="Content Placeholder 2">
            <a:extLst>
              <a:ext uri="{FF2B5EF4-FFF2-40B4-BE49-F238E27FC236}">
                <a16:creationId xmlns:a16="http://schemas.microsoft.com/office/drawing/2014/main" id="{D862C10A-18AF-0FFE-B34E-F3128A29D12C}"/>
              </a:ext>
            </a:extLst>
          </p:cNvPr>
          <p:cNvSpPr>
            <a:spLocks noGrp="1"/>
          </p:cNvSpPr>
          <p:nvPr>
            <p:ph idx="1"/>
          </p:nvPr>
        </p:nvSpPr>
        <p:spPr/>
        <p:txBody>
          <a:bodyPr/>
          <a:lstStyle/>
          <a:p>
            <a:r>
              <a:rPr lang="en-GB" dirty="0">
                <a:solidFill>
                  <a:srgbClr val="FF0000"/>
                </a:solidFill>
              </a:rPr>
              <a:t>Collision-Resistance</a:t>
            </a:r>
            <a:r>
              <a:rPr lang="en-GB" dirty="0"/>
              <a:t>: It should be hard to find two different inputs that hash to the same output.</a:t>
            </a:r>
          </a:p>
          <a:p>
            <a:endParaRPr lang="en-GB" dirty="0"/>
          </a:p>
          <a:p>
            <a:r>
              <a:rPr lang="en-GB" dirty="0">
                <a:solidFill>
                  <a:srgbClr val="FF0000"/>
                </a:solidFill>
              </a:rPr>
              <a:t>Pre-image Resistance</a:t>
            </a:r>
            <a:r>
              <a:rPr lang="en-GB" dirty="0"/>
              <a:t>: Given a hash ℎ, it should be hard to find any input 𝑥 such that ℎ = hash(𝑥).</a:t>
            </a:r>
          </a:p>
          <a:p>
            <a:endParaRPr lang="en-GB" dirty="0"/>
          </a:p>
          <a:p>
            <a:r>
              <a:rPr lang="en-GB" dirty="0">
                <a:solidFill>
                  <a:srgbClr val="FF0000"/>
                </a:solidFill>
              </a:rPr>
              <a:t>Second Pre-image Resistance</a:t>
            </a:r>
            <a:r>
              <a:rPr lang="en-GB" dirty="0"/>
              <a:t>: Given an input 𝑥1, it should be hard to find a different input 𝑥2​ such that hash(𝑥1) = hash(𝑥2).</a:t>
            </a:r>
          </a:p>
        </p:txBody>
      </p:sp>
    </p:spTree>
    <p:extLst>
      <p:ext uri="{BB962C8B-B14F-4D97-AF65-F5344CB8AC3E}">
        <p14:creationId xmlns:p14="http://schemas.microsoft.com/office/powerpoint/2010/main" val="29619154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6130D-9577-9E79-E245-91C435A7E071}"/>
              </a:ext>
            </a:extLst>
          </p:cNvPr>
          <p:cNvSpPr>
            <a:spLocks noGrp="1"/>
          </p:cNvSpPr>
          <p:nvPr>
            <p:ph type="title"/>
          </p:nvPr>
        </p:nvSpPr>
        <p:spPr/>
        <p:txBody>
          <a:bodyPr/>
          <a:lstStyle/>
          <a:p>
            <a:r>
              <a:rPr lang="en-GB" dirty="0"/>
              <a:t>Example</a:t>
            </a:r>
          </a:p>
        </p:txBody>
      </p:sp>
      <p:sp>
        <p:nvSpPr>
          <p:cNvPr id="3" name="Content Placeholder 2">
            <a:extLst>
              <a:ext uri="{FF2B5EF4-FFF2-40B4-BE49-F238E27FC236}">
                <a16:creationId xmlns:a16="http://schemas.microsoft.com/office/drawing/2014/main" id="{056E641B-9039-BE9A-CE47-C78A9811CE2A}"/>
              </a:ext>
            </a:extLst>
          </p:cNvPr>
          <p:cNvSpPr>
            <a:spLocks noGrp="1"/>
          </p:cNvSpPr>
          <p:nvPr>
            <p:ph idx="1"/>
          </p:nvPr>
        </p:nvSpPr>
        <p:spPr/>
        <p:txBody>
          <a:bodyPr/>
          <a:lstStyle/>
          <a:p>
            <a:r>
              <a:rPr lang="en-GB" dirty="0"/>
              <a:t>Consider the function f(x) = x % 100, which takes an input x and outputs the remainder when x is divided by 100. The output range is from 0 to 99.</a:t>
            </a:r>
          </a:p>
          <a:p>
            <a:endParaRPr lang="en-GB" dirty="0"/>
          </a:p>
          <a:p>
            <a:r>
              <a:rPr lang="en-GB" dirty="0">
                <a:solidFill>
                  <a:srgbClr val="FF0000"/>
                </a:solidFill>
              </a:rPr>
              <a:t>Collision-Resistance</a:t>
            </a:r>
            <a:r>
              <a:rPr lang="en-GB" dirty="0"/>
              <a:t>: It should be hard to find two different inputs that hash to the same output.</a:t>
            </a:r>
          </a:p>
          <a:p>
            <a:pPr marL="0" indent="0">
              <a:buNone/>
            </a:pPr>
            <a:r>
              <a:rPr lang="en-GB" dirty="0"/>
              <a:t>	f(105) = 5 and f(205) = 5, so 105 and 205 are a collision pair.</a:t>
            </a:r>
          </a:p>
        </p:txBody>
      </p:sp>
    </p:spTree>
    <p:extLst>
      <p:ext uri="{BB962C8B-B14F-4D97-AF65-F5344CB8AC3E}">
        <p14:creationId xmlns:p14="http://schemas.microsoft.com/office/powerpoint/2010/main" val="8616501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FD26-5986-5379-75E0-BA5DB3F16FD2}"/>
              </a:ext>
            </a:extLst>
          </p:cNvPr>
          <p:cNvSpPr>
            <a:spLocks noGrp="1"/>
          </p:cNvSpPr>
          <p:nvPr>
            <p:ph type="title"/>
          </p:nvPr>
        </p:nvSpPr>
        <p:spPr/>
        <p:txBody>
          <a:bodyPr/>
          <a:lstStyle/>
          <a:p>
            <a:r>
              <a:rPr lang="en-GB" dirty="0"/>
              <a:t>Example (contd.)</a:t>
            </a:r>
          </a:p>
        </p:txBody>
      </p:sp>
      <p:sp>
        <p:nvSpPr>
          <p:cNvPr id="3" name="Content Placeholder 2">
            <a:extLst>
              <a:ext uri="{FF2B5EF4-FFF2-40B4-BE49-F238E27FC236}">
                <a16:creationId xmlns:a16="http://schemas.microsoft.com/office/drawing/2014/main" id="{9F90FB81-49BF-920A-8AF4-253416D9DF47}"/>
              </a:ext>
            </a:extLst>
          </p:cNvPr>
          <p:cNvSpPr>
            <a:spLocks noGrp="1"/>
          </p:cNvSpPr>
          <p:nvPr>
            <p:ph idx="1"/>
          </p:nvPr>
        </p:nvSpPr>
        <p:spPr>
          <a:xfrm>
            <a:off x="838200" y="1825624"/>
            <a:ext cx="10515600" cy="4892675"/>
          </a:xfrm>
        </p:spPr>
        <p:txBody>
          <a:bodyPr/>
          <a:lstStyle/>
          <a:p>
            <a:r>
              <a:rPr lang="en-GB" dirty="0">
                <a:solidFill>
                  <a:srgbClr val="FF0000"/>
                </a:solidFill>
              </a:rPr>
              <a:t>Pre-image Resistance</a:t>
            </a:r>
            <a:r>
              <a:rPr lang="en-GB" dirty="0"/>
              <a:t>: Given a hash ℎ, it should be hard to find any input 𝑥 such that ℎ = hash(𝑥).</a:t>
            </a:r>
          </a:p>
          <a:p>
            <a:r>
              <a:rPr lang="en-GB" dirty="0"/>
              <a:t>With f(x) = x % 100, if we are given an output y = 25, we can easily find many possible inputs, such as x=25, 125, 225, etc., that satisfy f(x) = 25.</a:t>
            </a:r>
          </a:p>
          <a:p>
            <a:endParaRPr lang="en-GB" dirty="0"/>
          </a:p>
          <a:p>
            <a:r>
              <a:rPr lang="en-GB" dirty="0">
                <a:solidFill>
                  <a:srgbClr val="FF0000"/>
                </a:solidFill>
              </a:rPr>
              <a:t>Second Pre-image Resistance</a:t>
            </a:r>
            <a:r>
              <a:rPr lang="en-GB" dirty="0"/>
              <a:t>: Given an input 𝑥1, it should be hard to find a different input 𝑥2​ such that hash(𝑥1)=hash(𝑥2).</a:t>
            </a:r>
          </a:p>
          <a:p>
            <a:r>
              <a:rPr lang="en-GB" dirty="0"/>
              <a:t>With f(x) = x % 100, if we have x1=45, we can easily find x2=145, x2=245, etc., that also hash to 45.</a:t>
            </a:r>
          </a:p>
        </p:txBody>
      </p:sp>
    </p:spTree>
    <p:extLst>
      <p:ext uri="{BB962C8B-B14F-4D97-AF65-F5344CB8AC3E}">
        <p14:creationId xmlns:p14="http://schemas.microsoft.com/office/powerpoint/2010/main" val="3406792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B8B8A-C29B-D056-4A18-C5676789935D}"/>
              </a:ext>
            </a:extLst>
          </p:cNvPr>
          <p:cNvSpPr>
            <a:spLocks noGrp="1"/>
          </p:cNvSpPr>
          <p:nvPr>
            <p:ph type="title"/>
          </p:nvPr>
        </p:nvSpPr>
        <p:spPr/>
        <p:txBody>
          <a:bodyPr/>
          <a:lstStyle/>
          <a:p>
            <a:r>
              <a:rPr lang="en-GB" dirty="0"/>
              <a:t>Popular Uses of Collision-Resistant Hash Functions</a:t>
            </a:r>
          </a:p>
        </p:txBody>
      </p:sp>
      <p:sp>
        <p:nvSpPr>
          <p:cNvPr id="3" name="Content Placeholder 2">
            <a:extLst>
              <a:ext uri="{FF2B5EF4-FFF2-40B4-BE49-F238E27FC236}">
                <a16:creationId xmlns:a16="http://schemas.microsoft.com/office/drawing/2014/main" id="{4C3481B9-57E2-DD82-77C2-B82C69D5647C}"/>
              </a:ext>
            </a:extLst>
          </p:cNvPr>
          <p:cNvSpPr>
            <a:spLocks noGrp="1"/>
          </p:cNvSpPr>
          <p:nvPr>
            <p:ph idx="1"/>
          </p:nvPr>
        </p:nvSpPr>
        <p:spPr/>
        <p:txBody>
          <a:bodyPr/>
          <a:lstStyle/>
          <a:p>
            <a:r>
              <a:rPr lang="en-GB" dirty="0">
                <a:solidFill>
                  <a:srgbClr val="FF0000"/>
                </a:solidFill>
              </a:rPr>
              <a:t>Digital Signatures</a:t>
            </a:r>
            <a:r>
              <a:rPr lang="en-GB" dirty="0"/>
              <a:t>: Ensures the integrity of the signed document.</a:t>
            </a:r>
          </a:p>
          <a:p>
            <a:r>
              <a:rPr lang="en-GB" dirty="0">
                <a:solidFill>
                  <a:srgbClr val="FF0000"/>
                </a:solidFill>
              </a:rPr>
              <a:t>Password Hashing</a:t>
            </a:r>
            <a:r>
              <a:rPr lang="en-GB" dirty="0"/>
              <a:t>: Securely stores passwords by hashing.</a:t>
            </a:r>
          </a:p>
          <a:p>
            <a:r>
              <a:rPr lang="en-GB" dirty="0">
                <a:solidFill>
                  <a:srgbClr val="FF0000"/>
                </a:solidFill>
              </a:rPr>
              <a:t>Data Integrity Checks</a:t>
            </a:r>
            <a:r>
              <a:rPr lang="en-GB" dirty="0"/>
              <a:t>: Verifies that data has not been altered.</a:t>
            </a:r>
          </a:p>
          <a:p>
            <a:r>
              <a:rPr lang="en-GB" dirty="0">
                <a:solidFill>
                  <a:srgbClr val="FF0000"/>
                </a:solidFill>
              </a:rPr>
              <a:t>Cryptographic Applications</a:t>
            </a:r>
            <a:r>
              <a:rPr lang="en-GB" dirty="0"/>
              <a:t>: Used </a:t>
            </a:r>
            <a:r>
              <a:rPr lang="en-GB"/>
              <a:t>in blockchain</a:t>
            </a:r>
            <a:r>
              <a:rPr lang="en-GB" dirty="0"/>
              <a:t>, etc.</a:t>
            </a:r>
          </a:p>
        </p:txBody>
      </p:sp>
    </p:spTree>
    <p:extLst>
      <p:ext uri="{BB962C8B-B14F-4D97-AF65-F5344CB8AC3E}">
        <p14:creationId xmlns:p14="http://schemas.microsoft.com/office/powerpoint/2010/main" val="2645973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A977E-0742-211E-5836-A07BAAB2E2B8}"/>
              </a:ext>
            </a:extLst>
          </p:cNvPr>
          <p:cNvSpPr>
            <a:spLocks noGrp="1"/>
          </p:cNvSpPr>
          <p:nvPr>
            <p:ph type="title"/>
          </p:nvPr>
        </p:nvSpPr>
        <p:spPr/>
        <p:txBody>
          <a:bodyPr/>
          <a:lstStyle/>
          <a:p>
            <a:r>
              <a:rPr lang="en-GB" dirty="0"/>
              <a:t>Random Oracle</a:t>
            </a:r>
          </a:p>
        </p:txBody>
      </p:sp>
      <p:sp>
        <p:nvSpPr>
          <p:cNvPr id="3" name="Content Placeholder 2">
            <a:extLst>
              <a:ext uri="{FF2B5EF4-FFF2-40B4-BE49-F238E27FC236}">
                <a16:creationId xmlns:a16="http://schemas.microsoft.com/office/drawing/2014/main" id="{824092B6-CC80-03B7-B4F9-0A999950EF3B}"/>
              </a:ext>
            </a:extLst>
          </p:cNvPr>
          <p:cNvSpPr>
            <a:spLocks noGrp="1"/>
          </p:cNvSpPr>
          <p:nvPr>
            <p:ph idx="1"/>
          </p:nvPr>
        </p:nvSpPr>
        <p:spPr/>
        <p:txBody>
          <a:bodyPr>
            <a:normAutofit fontScale="92500"/>
          </a:bodyPr>
          <a:lstStyle/>
          <a:p>
            <a:r>
              <a:rPr lang="en-GB" dirty="0">
                <a:solidFill>
                  <a:srgbClr val="FF0000"/>
                </a:solidFill>
              </a:rPr>
              <a:t>Definition</a:t>
            </a:r>
            <a:r>
              <a:rPr lang="en-GB" dirty="0"/>
              <a:t>: A theoretical model in which a hash function is treated as a "black box" that produces truly random output for each unique input.</a:t>
            </a:r>
          </a:p>
          <a:p>
            <a:endParaRPr lang="en-GB" dirty="0"/>
          </a:p>
          <a:p>
            <a:r>
              <a:rPr lang="en-GB" dirty="0"/>
              <a:t>When using the Random Oracle Model, we assume that:</a:t>
            </a:r>
          </a:p>
          <a:p>
            <a:pPr marL="0" indent="0">
              <a:buNone/>
            </a:pPr>
            <a:r>
              <a:rPr lang="en-GB" dirty="0"/>
              <a:t>1. Each input to the hash function produces a unique, random output that is consistent for the same input.</a:t>
            </a:r>
          </a:p>
          <a:p>
            <a:pPr marL="0" indent="0">
              <a:buNone/>
            </a:pPr>
            <a:r>
              <a:rPr lang="en-GB" dirty="0"/>
              <a:t>2. If the same input is queried multiple times, the output will be identical each time (deterministic </a:t>
            </a:r>
            <a:r>
              <a:rPr lang="en-GB" dirty="0" err="1"/>
              <a:t>behavior</a:t>
            </a:r>
            <a:r>
              <a:rPr lang="en-GB" dirty="0"/>
              <a:t>).</a:t>
            </a:r>
          </a:p>
          <a:p>
            <a:pPr marL="0" indent="0">
              <a:buNone/>
            </a:pPr>
            <a:r>
              <a:rPr lang="en-GB" dirty="0"/>
              <a:t>3. For any new input, the output will be entirely unpredictable and unrelated to previous outputs (random </a:t>
            </a:r>
            <a:r>
              <a:rPr lang="en-GB" dirty="0" err="1"/>
              <a:t>behavior</a:t>
            </a:r>
            <a:r>
              <a:rPr lang="en-GB" dirty="0"/>
              <a:t>).</a:t>
            </a:r>
          </a:p>
        </p:txBody>
      </p:sp>
    </p:spTree>
    <p:extLst>
      <p:ext uri="{BB962C8B-B14F-4D97-AF65-F5344CB8AC3E}">
        <p14:creationId xmlns:p14="http://schemas.microsoft.com/office/powerpoint/2010/main" val="983129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2CC04-41DA-9861-AE08-18A425DDB09D}"/>
              </a:ext>
            </a:extLst>
          </p:cNvPr>
          <p:cNvSpPr>
            <a:spLocks noGrp="1"/>
          </p:cNvSpPr>
          <p:nvPr>
            <p:ph type="title"/>
          </p:nvPr>
        </p:nvSpPr>
        <p:spPr/>
        <p:txBody>
          <a:bodyPr/>
          <a:lstStyle/>
          <a:p>
            <a:r>
              <a:rPr lang="en-GB" dirty="0"/>
              <a:t>How?</a:t>
            </a:r>
          </a:p>
        </p:txBody>
      </p:sp>
      <p:sp>
        <p:nvSpPr>
          <p:cNvPr id="3" name="Content Placeholder 2">
            <a:extLst>
              <a:ext uri="{FF2B5EF4-FFF2-40B4-BE49-F238E27FC236}">
                <a16:creationId xmlns:a16="http://schemas.microsoft.com/office/drawing/2014/main" id="{03354EE1-2387-8D9C-AE80-BBDE8EEBE8DB}"/>
              </a:ext>
            </a:extLst>
          </p:cNvPr>
          <p:cNvSpPr>
            <a:spLocks noGrp="1"/>
          </p:cNvSpPr>
          <p:nvPr>
            <p:ph idx="1"/>
          </p:nvPr>
        </p:nvSpPr>
        <p:spPr/>
        <p:txBody>
          <a:bodyPr/>
          <a:lstStyle/>
          <a:p>
            <a:r>
              <a:rPr lang="en-GB" dirty="0"/>
              <a:t>The ROM provides an idealized environment for cryptographic analysis, where the hash function behaves in the most secure way possible.</a:t>
            </a:r>
          </a:p>
          <a:p>
            <a:endParaRPr lang="en-GB" dirty="0"/>
          </a:p>
          <a:p>
            <a:r>
              <a:rPr lang="en-GB" dirty="0"/>
              <a:t>By assuming that a hash function is a perfect "black box" with random outputs, cryptographers can theoretically </a:t>
            </a:r>
            <a:r>
              <a:rPr lang="en-GB" dirty="0" err="1"/>
              <a:t>analyze</a:t>
            </a:r>
            <a:r>
              <a:rPr lang="en-GB" dirty="0"/>
              <a:t> the security of a protocol without worrying about specific implementation details of the hash function.</a:t>
            </a:r>
          </a:p>
        </p:txBody>
      </p:sp>
    </p:spTree>
    <p:extLst>
      <p:ext uri="{BB962C8B-B14F-4D97-AF65-F5344CB8AC3E}">
        <p14:creationId xmlns:p14="http://schemas.microsoft.com/office/powerpoint/2010/main" val="3619543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E8CE3-1AF7-6247-671D-FE5ACE86BE6B}"/>
              </a:ext>
            </a:extLst>
          </p:cNvPr>
          <p:cNvSpPr>
            <a:spLocks noGrp="1"/>
          </p:cNvSpPr>
          <p:nvPr>
            <p:ph type="title"/>
          </p:nvPr>
        </p:nvSpPr>
        <p:spPr/>
        <p:txBody>
          <a:bodyPr/>
          <a:lstStyle/>
          <a:p>
            <a:r>
              <a:rPr lang="en-GB" dirty="0"/>
              <a:t>Scenario</a:t>
            </a:r>
          </a:p>
        </p:txBody>
      </p:sp>
      <p:sp>
        <p:nvSpPr>
          <p:cNvPr id="3" name="Content Placeholder 2">
            <a:extLst>
              <a:ext uri="{FF2B5EF4-FFF2-40B4-BE49-F238E27FC236}">
                <a16:creationId xmlns:a16="http://schemas.microsoft.com/office/drawing/2014/main" id="{77812770-64B1-3B35-C493-AFA16AE2A595}"/>
              </a:ext>
            </a:extLst>
          </p:cNvPr>
          <p:cNvSpPr>
            <a:spLocks noGrp="1"/>
          </p:cNvSpPr>
          <p:nvPr>
            <p:ph idx="1"/>
          </p:nvPr>
        </p:nvSpPr>
        <p:spPr/>
        <p:txBody>
          <a:bodyPr/>
          <a:lstStyle/>
          <a:p>
            <a:r>
              <a:rPr lang="en-GB" dirty="0"/>
              <a:t>Imagine a system where we want to securely store and verify users' passwords. We’ll use a </a:t>
            </a:r>
            <a:r>
              <a:rPr lang="en-GB" b="1" dirty="0"/>
              <a:t>hash function</a:t>
            </a:r>
            <a:r>
              <a:rPr lang="en-GB" dirty="0"/>
              <a:t> as a "random oracle" in this scenario. For simplicity, we’ll assume that the hash function behaves as a true random oracle, producing unpredictable and unique outputs for each unique input.</a:t>
            </a:r>
          </a:p>
        </p:txBody>
      </p:sp>
    </p:spTree>
    <p:extLst>
      <p:ext uri="{BB962C8B-B14F-4D97-AF65-F5344CB8AC3E}">
        <p14:creationId xmlns:p14="http://schemas.microsoft.com/office/powerpoint/2010/main" val="688294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FF818-94B1-DDB1-2DF8-9F9AE0FA26D6}"/>
              </a:ext>
            </a:extLst>
          </p:cNvPr>
          <p:cNvSpPr>
            <a:spLocks noGrp="1"/>
          </p:cNvSpPr>
          <p:nvPr>
            <p:ph type="title"/>
          </p:nvPr>
        </p:nvSpPr>
        <p:spPr/>
        <p:txBody>
          <a:bodyPr/>
          <a:lstStyle/>
          <a:p>
            <a:r>
              <a:rPr lang="en-GB" dirty="0"/>
              <a:t>Goal</a:t>
            </a:r>
          </a:p>
        </p:txBody>
      </p:sp>
      <p:sp>
        <p:nvSpPr>
          <p:cNvPr id="3" name="Content Placeholder 2">
            <a:extLst>
              <a:ext uri="{FF2B5EF4-FFF2-40B4-BE49-F238E27FC236}">
                <a16:creationId xmlns:a16="http://schemas.microsoft.com/office/drawing/2014/main" id="{46DC69A9-F1B5-476E-7DB1-410431F6D04F}"/>
              </a:ext>
            </a:extLst>
          </p:cNvPr>
          <p:cNvSpPr>
            <a:spLocks noGrp="1"/>
          </p:cNvSpPr>
          <p:nvPr>
            <p:ph idx="1"/>
          </p:nvPr>
        </p:nvSpPr>
        <p:spPr/>
        <p:txBody>
          <a:bodyPr/>
          <a:lstStyle/>
          <a:p>
            <a:r>
              <a:rPr lang="en-GB" dirty="0"/>
              <a:t>Store passwords securely such that:</a:t>
            </a:r>
          </a:p>
          <a:p>
            <a:pPr>
              <a:buFont typeface="+mj-lt"/>
              <a:buAutoNum type="arabicPeriod"/>
            </a:pPr>
            <a:r>
              <a:rPr lang="en-GB" dirty="0"/>
              <a:t>Only hashed values are stored in the database.</a:t>
            </a:r>
          </a:p>
          <a:p>
            <a:pPr>
              <a:buFont typeface="+mj-lt"/>
              <a:buAutoNum type="arabicPeriod"/>
            </a:pPr>
            <a:r>
              <a:rPr lang="en-GB" dirty="0"/>
              <a:t>The system can verify passwords without ever storing them in plaintext.</a:t>
            </a:r>
          </a:p>
          <a:p>
            <a:endParaRPr lang="en-GB" dirty="0"/>
          </a:p>
        </p:txBody>
      </p:sp>
    </p:spTree>
    <p:extLst>
      <p:ext uri="{BB962C8B-B14F-4D97-AF65-F5344CB8AC3E}">
        <p14:creationId xmlns:p14="http://schemas.microsoft.com/office/powerpoint/2010/main" val="21070603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F5A29-9EC0-6FAC-F356-06EC882FC6DA}"/>
              </a:ext>
            </a:extLst>
          </p:cNvPr>
          <p:cNvSpPr>
            <a:spLocks noGrp="1"/>
          </p:cNvSpPr>
          <p:nvPr>
            <p:ph type="title"/>
          </p:nvPr>
        </p:nvSpPr>
        <p:spPr/>
        <p:txBody>
          <a:bodyPr/>
          <a:lstStyle/>
          <a:p>
            <a:r>
              <a:rPr lang="en-GB" dirty="0"/>
              <a:t>Procedure</a:t>
            </a:r>
          </a:p>
        </p:txBody>
      </p:sp>
      <p:sp>
        <p:nvSpPr>
          <p:cNvPr id="3" name="Content Placeholder 2">
            <a:extLst>
              <a:ext uri="{FF2B5EF4-FFF2-40B4-BE49-F238E27FC236}">
                <a16:creationId xmlns:a16="http://schemas.microsoft.com/office/drawing/2014/main" id="{8745A8CB-3508-186E-C57A-4F0D89EC211B}"/>
              </a:ext>
            </a:extLst>
          </p:cNvPr>
          <p:cNvSpPr>
            <a:spLocks noGrp="1"/>
          </p:cNvSpPr>
          <p:nvPr>
            <p:ph idx="1"/>
          </p:nvPr>
        </p:nvSpPr>
        <p:spPr/>
        <p:txBody>
          <a:bodyPr/>
          <a:lstStyle/>
          <a:p>
            <a:r>
              <a:rPr lang="en-GB" dirty="0"/>
              <a:t>Step 1: Password Registration (Storing Password Hash)</a:t>
            </a:r>
          </a:p>
          <a:p>
            <a:pPr marL="514350" indent="-514350">
              <a:buAutoNum type="arabicPeriod"/>
            </a:pPr>
            <a:r>
              <a:rPr lang="en-GB" dirty="0"/>
              <a:t>When a user creates an account, they enter a password, say password123.</a:t>
            </a:r>
          </a:p>
          <a:p>
            <a:pPr marL="514350" indent="-514350">
              <a:buAutoNum type="arabicPeriod"/>
            </a:pPr>
            <a:r>
              <a:rPr lang="en-GB" dirty="0"/>
              <a:t>The system uses the "random oracle" (hash function) to hash the password:</a:t>
            </a:r>
          </a:p>
          <a:p>
            <a:pPr lvl="1"/>
            <a:r>
              <a:rPr lang="en-GB" dirty="0"/>
              <a:t>For example, the hash of password123 might be f23ab9cd.</a:t>
            </a:r>
          </a:p>
          <a:p>
            <a:pPr lvl="1"/>
            <a:r>
              <a:rPr lang="en-GB" dirty="0"/>
              <a:t>Because we’re treating the hash function as a random oracle, f23ab9cd is completely random and unique to password123.</a:t>
            </a:r>
          </a:p>
          <a:p>
            <a:pPr marL="0" indent="0">
              <a:buNone/>
            </a:pPr>
            <a:r>
              <a:rPr lang="en-GB" dirty="0"/>
              <a:t>3. The system stores f23ab9cd in the database instead of the actual password.</a:t>
            </a:r>
          </a:p>
        </p:txBody>
      </p:sp>
    </p:spTree>
    <p:extLst>
      <p:ext uri="{BB962C8B-B14F-4D97-AF65-F5344CB8AC3E}">
        <p14:creationId xmlns:p14="http://schemas.microsoft.com/office/powerpoint/2010/main" val="11003111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C0D11-9EA5-288A-4BB7-35A1873BF1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13B3F4-5785-0F32-771C-ED60AA187268}"/>
              </a:ext>
            </a:extLst>
          </p:cNvPr>
          <p:cNvSpPr>
            <a:spLocks noGrp="1"/>
          </p:cNvSpPr>
          <p:nvPr>
            <p:ph type="title"/>
          </p:nvPr>
        </p:nvSpPr>
        <p:spPr/>
        <p:txBody>
          <a:bodyPr/>
          <a:lstStyle/>
          <a:p>
            <a:r>
              <a:rPr lang="en-GB" dirty="0"/>
              <a:t>Procedure</a:t>
            </a:r>
          </a:p>
        </p:txBody>
      </p:sp>
      <p:sp>
        <p:nvSpPr>
          <p:cNvPr id="3" name="Content Placeholder 2">
            <a:extLst>
              <a:ext uri="{FF2B5EF4-FFF2-40B4-BE49-F238E27FC236}">
                <a16:creationId xmlns:a16="http://schemas.microsoft.com/office/drawing/2014/main" id="{2EB54A50-D7BD-949C-2002-7C36ACBEB41A}"/>
              </a:ext>
            </a:extLst>
          </p:cNvPr>
          <p:cNvSpPr>
            <a:spLocks noGrp="1"/>
          </p:cNvSpPr>
          <p:nvPr>
            <p:ph idx="1"/>
          </p:nvPr>
        </p:nvSpPr>
        <p:spPr/>
        <p:txBody>
          <a:bodyPr/>
          <a:lstStyle/>
          <a:p>
            <a:r>
              <a:rPr lang="en-GB" dirty="0"/>
              <a:t>Step 2: Password Verification</a:t>
            </a:r>
          </a:p>
          <a:p>
            <a:pPr marL="0" indent="0">
              <a:buNone/>
            </a:pPr>
            <a:r>
              <a:rPr lang="en-GB" dirty="0"/>
              <a:t>1. When the user tries to log in, they enter their password, password123.</a:t>
            </a:r>
          </a:p>
          <a:p>
            <a:pPr marL="0" indent="0">
              <a:buNone/>
            </a:pPr>
            <a:r>
              <a:rPr lang="en-GB" dirty="0"/>
              <a:t>2. The system hashes this input using the same "random oracle":</a:t>
            </a:r>
          </a:p>
          <a:p>
            <a:pPr lvl="1"/>
            <a:r>
              <a:rPr lang="en-GB" dirty="0"/>
              <a:t>Again, the hash function outputs f23ab9cd for password123.</a:t>
            </a:r>
          </a:p>
          <a:p>
            <a:pPr marL="0" indent="0">
              <a:buNone/>
            </a:pPr>
            <a:r>
              <a:rPr lang="en-GB" dirty="0"/>
              <a:t>3. The system compares this hash to the stored hash in the database.</a:t>
            </a:r>
          </a:p>
          <a:p>
            <a:pPr lvl="1"/>
            <a:r>
              <a:rPr lang="en-GB" dirty="0"/>
              <a:t>Since the hashes match, the system concludes that the password is correct and grants access.</a:t>
            </a:r>
          </a:p>
        </p:txBody>
      </p:sp>
    </p:spTree>
    <p:extLst>
      <p:ext uri="{BB962C8B-B14F-4D97-AF65-F5344CB8AC3E}">
        <p14:creationId xmlns:p14="http://schemas.microsoft.com/office/powerpoint/2010/main" val="41650268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119B4-AC67-59E9-EAB1-374B509E4E1F}"/>
              </a:ext>
            </a:extLst>
          </p:cNvPr>
          <p:cNvSpPr>
            <a:spLocks noGrp="1"/>
          </p:cNvSpPr>
          <p:nvPr>
            <p:ph type="title"/>
          </p:nvPr>
        </p:nvSpPr>
        <p:spPr/>
        <p:txBody>
          <a:bodyPr/>
          <a:lstStyle/>
          <a:p>
            <a:r>
              <a:rPr lang="en-GB" dirty="0"/>
              <a:t>How ROM Helps?</a:t>
            </a:r>
          </a:p>
        </p:txBody>
      </p:sp>
      <p:sp>
        <p:nvSpPr>
          <p:cNvPr id="3" name="Content Placeholder 2">
            <a:extLst>
              <a:ext uri="{FF2B5EF4-FFF2-40B4-BE49-F238E27FC236}">
                <a16:creationId xmlns:a16="http://schemas.microsoft.com/office/drawing/2014/main" id="{CF2E8AEB-F4B8-4A60-D338-93D22A3BD682}"/>
              </a:ext>
            </a:extLst>
          </p:cNvPr>
          <p:cNvSpPr>
            <a:spLocks noGrp="1"/>
          </p:cNvSpPr>
          <p:nvPr>
            <p:ph idx="1"/>
          </p:nvPr>
        </p:nvSpPr>
        <p:spPr/>
        <p:txBody>
          <a:bodyPr>
            <a:normAutofit/>
          </a:bodyPr>
          <a:lstStyle/>
          <a:p>
            <a:r>
              <a:rPr lang="en-GB" dirty="0"/>
              <a:t>By treating the hash function as a random oracle, we benefit from the following properties:</a:t>
            </a:r>
          </a:p>
          <a:p>
            <a:pPr marL="514350" indent="-514350">
              <a:buAutoNum type="arabicPeriod"/>
            </a:pPr>
            <a:r>
              <a:rPr lang="en-GB" dirty="0">
                <a:solidFill>
                  <a:srgbClr val="FF0000"/>
                </a:solidFill>
              </a:rPr>
              <a:t>Pre-image Resistance</a:t>
            </a:r>
            <a:r>
              <a:rPr lang="en-GB" dirty="0"/>
              <a:t>: If an attacker gains access to the hashed password f23ab9cd, they cannot easily find the original password password123 because the hash function is treated as a random oracle. This makes it difficult for the attacker to reverse-engineer the password.</a:t>
            </a:r>
          </a:p>
        </p:txBody>
      </p:sp>
    </p:spTree>
    <p:extLst>
      <p:ext uri="{BB962C8B-B14F-4D97-AF65-F5344CB8AC3E}">
        <p14:creationId xmlns:p14="http://schemas.microsoft.com/office/powerpoint/2010/main" val="14902015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22025-0614-7C5A-76FD-75895DEEE8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E733E7-40B4-FB22-CA74-445A70557C6D}"/>
              </a:ext>
            </a:extLst>
          </p:cNvPr>
          <p:cNvSpPr>
            <a:spLocks noGrp="1"/>
          </p:cNvSpPr>
          <p:nvPr>
            <p:ph type="title"/>
          </p:nvPr>
        </p:nvSpPr>
        <p:spPr/>
        <p:txBody>
          <a:bodyPr/>
          <a:lstStyle/>
          <a:p>
            <a:r>
              <a:rPr lang="en-GB" dirty="0"/>
              <a:t>How ROM Helps?</a:t>
            </a:r>
          </a:p>
        </p:txBody>
      </p:sp>
      <p:sp>
        <p:nvSpPr>
          <p:cNvPr id="3" name="Content Placeholder 2">
            <a:extLst>
              <a:ext uri="{FF2B5EF4-FFF2-40B4-BE49-F238E27FC236}">
                <a16:creationId xmlns:a16="http://schemas.microsoft.com/office/drawing/2014/main" id="{386F800C-D2B7-73EB-209D-2799175329A5}"/>
              </a:ext>
            </a:extLst>
          </p:cNvPr>
          <p:cNvSpPr>
            <a:spLocks noGrp="1"/>
          </p:cNvSpPr>
          <p:nvPr>
            <p:ph idx="1"/>
          </p:nvPr>
        </p:nvSpPr>
        <p:spPr/>
        <p:txBody>
          <a:bodyPr>
            <a:normAutofit/>
          </a:bodyPr>
          <a:lstStyle/>
          <a:p>
            <a:pPr marL="0" indent="0">
              <a:buNone/>
            </a:pPr>
            <a:r>
              <a:rPr lang="en-GB" dirty="0">
                <a:solidFill>
                  <a:srgbClr val="FF0000"/>
                </a:solidFill>
              </a:rPr>
              <a:t>2. Collision Resistance</a:t>
            </a:r>
            <a:r>
              <a:rPr lang="en-GB" dirty="0"/>
              <a:t>: No two different passwords (e.g., password123 and password456) should produce the same hash output. The random oracle assumption means that it is incredibly unlikely for different passwords to produce the same hash.</a:t>
            </a:r>
          </a:p>
          <a:p>
            <a:pPr marL="0" indent="0">
              <a:buNone/>
            </a:pPr>
            <a:r>
              <a:rPr lang="en-GB" dirty="0">
                <a:solidFill>
                  <a:srgbClr val="FF0000"/>
                </a:solidFill>
              </a:rPr>
              <a:t>3. Second Pre-image Resistance</a:t>
            </a:r>
            <a:r>
              <a:rPr lang="en-GB" dirty="0"/>
              <a:t>: Given the stored hash f23ab9cd (which corresponds to password123), an attacker should not be able to find another input (e.g., </a:t>
            </a:r>
            <a:r>
              <a:rPr lang="en-GB" dirty="0" err="1"/>
              <a:t>passwordABC</a:t>
            </a:r>
            <a:r>
              <a:rPr lang="en-GB" dirty="0"/>
              <a:t>) that produces the same hash. This prevents attackers from finding alternative passwords that could be used to authenticate.</a:t>
            </a:r>
          </a:p>
        </p:txBody>
      </p:sp>
    </p:spTree>
    <p:extLst>
      <p:ext uri="{BB962C8B-B14F-4D97-AF65-F5344CB8AC3E}">
        <p14:creationId xmlns:p14="http://schemas.microsoft.com/office/powerpoint/2010/main" val="3422099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2D8E6-5CFB-5451-83E2-6DAA10A233F9}"/>
              </a:ext>
            </a:extLst>
          </p:cNvPr>
          <p:cNvSpPr>
            <a:spLocks noGrp="1"/>
          </p:cNvSpPr>
          <p:nvPr>
            <p:ph type="title"/>
          </p:nvPr>
        </p:nvSpPr>
        <p:spPr/>
        <p:txBody>
          <a:bodyPr/>
          <a:lstStyle/>
          <a:p>
            <a:r>
              <a:rPr lang="en-GB" dirty="0"/>
              <a:t>Hash Algorithms - SHA-512</a:t>
            </a:r>
          </a:p>
        </p:txBody>
      </p:sp>
      <p:sp>
        <p:nvSpPr>
          <p:cNvPr id="3" name="Content Placeholder 2">
            <a:extLst>
              <a:ext uri="{FF2B5EF4-FFF2-40B4-BE49-F238E27FC236}">
                <a16:creationId xmlns:a16="http://schemas.microsoft.com/office/drawing/2014/main" id="{7ACBEA70-F54F-1EC1-98C2-511406B01596}"/>
              </a:ext>
            </a:extLst>
          </p:cNvPr>
          <p:cNvSpPr>
            <a:spLocks noGrp="1"/>
          </p:cNvSpPr>
          <p:nvPr>
            <p:ph idx="1"/>
          </p:nvPr>
        </p:nvSpPr>
        <p:spPr/>
        <p:txBody>
          <a:bodyPr/>
          <a:lstStyle/>
          <a:p>
            <a:r>
              <a:rPr lang="en-GB" dirty="0">
                <a:solidFill>
                  <a:srgbClr val="FF0000"/>
                </a:solidFill>
              </a:rPr>
              <a:t>SHA-512 Overview</a:t>
            </a:r>
            <a:r>
              <a:rPr lang="en-GB" dirty="0"/>
              <a:t>:</a:t>
            </a:r>
          </a:p>
          <a:p>
            <a:pPr lvl="1"/>
            <a:r>
              <a:rPr lang="en-GB" dirty="0"/>
              <a:t>Part of the SHA-2 family.</a:t>
            </a:r>
          </a:p>
          <a:p>
            <a:pPr lvl="1"/>
            <a:r>
              <a:rPr lang="en-GB" dirty="0">
                <a:solidFill>
                  <a:srgbClr val="FF0000"/>
                </a:solidFill>
              </a:rPr>
              <a:t>512-bit digest </a:t>
            </a:r>
            <a:r>
              <a:rPr lang="en-GB" dirty="0"/>
              <a:t>length </a:t>
            </a:r>
            <a:r>
              <a:rPr lang="en-GB" dirty="0">
                <a:solidFill>
                  <a:srgbClr val="FF0000"/>
                </a:solidFill>
              </a:rPr>
              <a:t>(64 bytes)</a:t>
            </a:r>
            <a:r>
              <a:rPr lang="en-GB" dirty="0"/>
              <a:t>.</a:t>
            </a:r>
          </a:p>
          <a:p>
            <a:pPr lvl="1"/>
            <a:r>
              <a:rPr lang="en-GB" dirty="0"/>
              <a:t>Designed for high-security applications.</a:t>
            </a:r>
          </a:p>
          <a:p>
            <a:pPr lvl="1"/>
            <a:endParaRPr lang="en-GB" dirty="0"/>
          </a:p>
          <a:p>
            <a:r>
              <a:rPr lang="en-GB" dirty="0"/>
              <a:t>Structure: Operates on blocks of data and uses bitwise operations for mixing.</a:t>
            </a:r>
          </a:p>
          <a:p>
            <a:endParaRPr lang="en-GB" dirty="0"/>
          </a:p>
          <a:p>
            <a:r>
              <a:rPr lang="en-GB" dirty="0"/>
              <a:t>Applications: SSL/TLS, digital certificates, and secure hashing.</a:t>
            </a:r>
          </a:p>
        </p:txBody>
      </p:sp>
    </p:spTree>
    <p:extLst>
      <p:ext uri="{BB962C8B-B14F-4D97-AF65-F5344CB8AC3E}">
        <p14:creationId xmlns:p14="http://schemas.microsoft.com/office/powerpoint/2010/main" val="35801517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9B7D0-E1AB-5F35-9CE7-06033817C4C7}"/>
              </a:ext>
            </a:extLst>
          </p:cNvPr>
          <p:cNvSpPr>
            <a:spLocks noGrp="1"/>
          </p:cNvSpPr>
          <p:nvPr>
            <p:ph type="title"/>
          </p:nvPr>
        </p:nvSpPr>
        <p:spPr/>
        <p:txBody>
          <a:bodyPr/>
          <a:lstStyle/>
          <a:p>
            <a:r>
              <a:rPr lang="en-GB" dirty="0"/>
              <a:t>Steps</a:t>
            </a:r>
          </a:p>
        </p:txBody>
      </p:sp>
      <p:sp>
        <p:nvSpPr>
          <p:cNvPr id="3" name="Content Placeholder 2">
            <a:extLst>
              <a:ext uri="{FF2B5EF4-FFF2-40B4-BE49-F238E27FC236}">
                <a16:creationId xmlns:a16="http://schemas.microsoft.com/office/drawing/2014/main" id="{D29A2013-AB6D-A89B-0202-4F96937F33CA}"/>
              </a:ext>
            </a:extLst>
          </p:cNvPr>
          <p:cNvSpPr>
            <a:spLocks noGrp="1"/>
          </p:cNvSpPr>
          <p:nvPr>
            <p:ph idx="1"/>
          </p:nvPr>
        </p:nvSpPr>
        <p:spPr/>
        <p:txBody>
          <a:bodyPr/>
          <a:lstStyle/>
          <a:p>
            <a:r>
              <a:rPr lang="en-GB" dirty="0"/>
              <a:t>Convert the given string into the binary form.</a:t>
            </a:r>
          </a:p>
          <a:p>
            <a:r>
              <a:rPr lang="en-GB" dirty="0"/>
              <a:t>Append ‘1’ to the string and then ‘0’ continuously until length of the string is &lt; (N%(1024 – 128)).</a:t>
            </a:r>
          </a:p>
          <a:p>
            <a:r>
              <a:rPr lang="en-GB" dirty="0"/>
              <a:t>Add the 128-bit binary representation of N in the string S.</a:t>
            </a:r>
          </a:p>
          <a:p>
            <a:r>
              <a:rPr lang="en-GB" dirty="0"/>
              <a:t>Find the number of chunks of the size of 1024 and store it in a variable, say chunks as N/1024.</a:t>
            </a:r>
          </a:p>
          <a:p>
            <a:r>
              <a:rPr lang="en-GB" dirty="0"/>
              <a:t>Divide the string S into 16 chunks of 64 characters.</a:t>
            </a:r>
          </a:p>
        </p:txBody>
      </p:sp>
    </p:spTree>
    <p:extLst>
      <p:ext uri="{BB962C8B-B14F-4D97-AF65-F5344CB8AC3E}">
        <p14:creationId xmlns:p14="http://schemas.microsoft.com/office/powerpoint/2010/main" val="9981849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2F323-4386-E282-CD75-3E897258C7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AE20E9-44AD-1C36-5CEE-3C8BD3811824}"/>
              </a:ext>
            </a:extLst>
          </p:cNvPr>
          <p:cNvSpPr>
            <a:spLocks noGrp="1"/>
          </p:cNvSpPr>
          <p:nvPr>
            <p:ph type="title"/>
          </p:nvPr>
        </p:nvSpPr>
        <p:spPr/>
        <p:txBody>
          <a:bodyPr/>
          <a:lstStyle/>
          <a:p>
            <a:r>
              <a:rPr lang="en-GB" dirty="0"/>
              <a:t>Steps (contd.)</a:t>
            </a:r>
          </a:p>
        </p:txBody>
      </p:sp>
      <p:sp>
        <p:nvSpPr>
          <p:cNvPr id="3" name="Content Placeholder 2">
            <a:extLst>
              <a:ext uri="{FF2B5EF4-FFF2-40B4-BE49-F238E27FC236}">
                <a16:creationId xmlns:a16="http://schemas.microsoft.com/office/drawing/2014/main" id="{1FF0BB77-5512-2ED5-A644-0E6CA8F94C92}"/>
              </a:ext>
            </a:extLst>
          </p:cNvPr>
          <p:cNvSpPr>
            <a:spLocks noGrp="1"/>
          </p:cNvSpPr>
          <p:nvPr>
            <p:ph idx="1"/>
          </p:nvPr>
        </p:nvSpPr>
        <p:spPr/>
        <p:txBody>
          <a:bodyPr>
            <a:normAutofit/>
          </a:bodyPr>
          <a:lstStyle/>
          <a:p>
            <a:r>
              <a:rPr lang="en-GB" dirty="0"/>
              <a:t>Extend the number of chunks to 80 by performing the following operations:</a:t>
            </a:r>
          </a:p>
          <a:p>
            <a:pPr lvl="1"/>
            <a:r>
              <a:rPr lang="en-GB" dirty="0"/>
              <a:t>Iterate over the range [16, 80] and then find 4 values say </a:t>
            </a:r>
            <a:r>
              <a:rPr lang="en-GB" dirty="0" err="1"/>
              <a:t>WordA</a:t>
            </a:r>
            <a:r>
              <a:rPr lang="en-GB" dirty="0"/>
              <a:t>, </a:t>
            </a:r>
            <a:r>
              <a:rPr lang="en-GB" dirty="0" err="1"/>
              <a:t>WordB</a:t>
            </a:r>
            <a:r>
              <a:rPr lang="en-GB" dirty="0"/>
              <a:t>, </a:t>
            </a:r>
            <a:r>
              <a:rPr lang="en-GB" dirty="0" err="1"/>
              <a:t>WordC</a:t>
            </a:r>
            <a:r>
              <a:rPr lang="en-GB" dirty="0"/>
              <a:t>, </a:t>
            </a:r>
            <a:r>
              <a:rPr lang="en-GB" dirty="0" err="1"/>
              <a:t>WordD</a:t>
            </a:r>
            <a:r>
              <a:rPr lang="en-GB" dirty="0"/>
              <a:t> as:</a:t>
            </a:r>
          </a:p>
          <a:p>
            <a:pPr marL="457200" lvl="1" indent="0">
              <a:buNone/>
            </a:pPr>
            <a:r>
              <a:rPr lang="en-GB" dirty="0"/>
              <a:t>1. </a:t>
            </a:r>
            <a:r>
              <a:rPr lang="en-GB" dirty="0" err="1"/>
              <a:t>WordA</a:t>
            </a:r>
            <a:r>
              <a:rPr lang="en-GB" dirty="0"/>
              <a:t> = </a:t>
            </a:r>
            <a:r>
              <a:rPr lang="en-GB" dirty="0" err="1"/>
              <a:t>rotate_right</a:t>
            </a:r>
            <a:r>
              <a:rPr lang="en-GB" dirty="0"/>
              <a:t>(Message[g – 2], 19) ^ </a:t>
            </a:r>
            <a:r>
              <a:rPr lang="en-GB" dirty="0" err="1"/>
              <a:t>rotate_right</a:t>
            </a:r>
            <a:r>
              <a:rPr lang="en-GB" dirty="0"/>
              <a:t>(Message[g – 2], 61) ^ </a:t>
            </a:r>
            <a:r>
              <a:rPr lang="en-GB" dirty="0" err="1"/>
              <a:t>shift_right</a:t>
            </a:r>
            <a:r>
              <a:rPr lang="en-GB" dirty="0"/>
              <a:t>(Message[g – 2], 6).</a:t>
            </a:r>
          </a:p>
          <a:p>
            <a:pPr marL="457200" lvl="1" indent="0">
              <a:buNone/>
            </a:pPr>
            <a:r>
              <a:rPr lang="en-GB" dirty="0"/>
              <a:t>2. </a:t>
            </a:r>
            <a:r>
              <a:rPr lang="en-GB" dirty="0" err="1"/>
              <a:t>WordB</a:t>
            </a:r>
            <a:r>
              <a:rPr lang="en-GB" dirty="0"/>
              <a:t> = Message[g – 7].</a:t>
            </a:r>
          </a:p>
          <a:p>
            <a:pPr lvl="1"/>
            <a:r>
              <a:rPr lang="en-GB" dirty="0" err="1"/>
              <a:t>WordC</a:t>
            </a:r>
            <a:r>
              <a:rPr lang="en-GB" dirty="0"/>
              <a:t> = </a:t>
            </a:r>
            <a:r>
              <a:rPr lang="en-GB" dirty="0" err="1"/>
              <a:t>rotate_right</a:t>
            </a:r>
            <a:r>
              <a:rPr lang="en-GB" dirty="0"/>
              <a:t>(Message[g – 15], 1) ^ </a:t>
            </a:r>
            <a:r>
              <a:rPr lang="en-GB" dirty="0" err="1"/>
              <a:t>rotate_right</a:t>
            </a:r>
            <a:r>
              <a:rPr lang="en-GB" dirty="0"/>
              <a:t>(Message[g – 15], 8) ^ </a:t>
            </a:r>
            <a:r>
              <a:rPr lang="en-GB" dirty="0" err="1"/>
              <a:t>shift_right</a:t>
            </a:r>
            <a:r>
              <a:rPr lang="en-GB" dirty="0"/>
              <a:t>(Message[g – 15], 7).</a:t>
            </a:r>
          </a:p>
          <a:p>
            <a:pPr lvl="1"/>
            <a:r>
              <a:rPr lang="en-GB" dirty="0" err="1"/>
              <a:t>WordD</a:t>
            </a:r>
            <a:r>
              <a:rPr lang="en-GB" dirty="0"/>
              <a:t> = Message[g – 16].</a:t>
            </a:r>
          </a:p>
          <a:p>
            <a:pPr lvl="1"/>
            <a:r>
              <a:rPr lang="en-GB" dirty="0"/>
              <a:t>Update the value of Message[g] as (</a:t>
            </a:r>
            <a:r>
              <a:rPr lang="en-GB" dirty="0" err="1"/>
              <a:t>WordA</a:t>
            </a:r>
            <a:r>
              <a:rPr lang="en-GB" dirty="0"/>
              <a:t> + </a:t>
            </a:r>
            <a:r>
              <a:rPr lang="en-GB" dirty="0" err="1"/>
              <a:t>WordB</a:t>
            </a:r>
            <a:r>
              <a:rPr lang="en-GB" dirty="0"/>
              <a:t> + </a:t>
            </a:r>
            <a:r>
              <a:rPr lang="en-GB" dirty="0" err="1"/>
              <a:t>WordC</a:t>
            </a:r>
            <a:r>
              <a:rPr lang="en-GB" dirty="0"/>
              <a:t> + </a:t>
            </a:r>
            <a:r>
              <a:rPr lang="en-GB" dirty="0" err="1"/>
              <a:t>WordD</a:t>
            </a:r>
            <a:r>
              <a:rPr lang="en-GB" dirty="0"/>
              <a:t>).</a:t>
            </a:r>
          </a:p>
        </p:txBody>
      </p:sp>
    </p:spTree>
    <p:extLst>
      <p:ext uri="{BB962C8B-B14F-4D97-AF65-F5344CB8AC3E}">
        <p14:creationId xmlns:p14="http://schemas.microsoft.com/office/powerpoint/2010/main" val="22851296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280-EDF3-0FB6-D1BE-4E7813D56B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273042-DAA5-84A6-19D8-E7EC9C92560E}"/>
              </a:ext>
            </a:extLst>
          </p:cNvPr>
          <p:cNvSpPr>
            <a:spLocks noGrp="1"/>
          </p:cNvSpPr>
          <p:nvPr>
            <p:ph type="title"/>
          </p:nvPr>
        </p:nvSpPr>
        <p:spPr/>
        <p:txBody>
          <a:bodyPr/>
          <a:lstStyle/>
          <a:p>
            <a:r>
              <a:rPr lang="en-GB" dirty="0"/>
              <a:t>Steps (contd.)</a:t>
            </a:r>
          </a:p>
        </p:txBody>
      </p:sp>
      <p:sp>
        <p:nvSpPr>
          <p:cNvPr id="3" name="Content Placeholder 2">
            <a:extLst>
              <a:ext uri="{FF2B5EF4-FFF2-40B4-BE49-F238E27FC236}">
                <a16:creationId xmlns:a16="http://schemas.microsoft.com/office/drawing/2014/main" id="{5E841788-20E5-1422-145C-5F1E0D41D605}"/>
              </a:ext>
            </a:extLst>
          </p:cNvPr>
          <p:cNvSpPr>
            <a:spLocks noGrp="1"/>
          </p:cNvSpPr>
          <p:nvPr>
            <p:ph idx="1"/>
          </p:nvPr>
        </p:nvSpPr>
        <p:spPr/>
        <p:txBody>
          <a:bodyPr>
            <a:normAutofit/>
          </a:bodyPr>
          <a:lstStyle/>
          <a:p>
            <a:r>
              <a:rPr lang="en-GB" dirty="0"/>
              <a:t>Initialize 8 variables say A, B, C, D, E, F, G, H of type 64-bit to store the final hash value of the given string S.</a:t>
            </a:r>
          </a:p>
          <a:p>
            <a:r>
              <a:rPr lang="en-GB" dirty="0"/>
              <a:t>Traverse the array Block[] and perform the following steps:</a:t>
            </a:r>
          </a:p>
          <a:p>
            <a:pPr lvl="1"/>
            <a:r>
              <a:rPr lang="en-GB" dirty="0"/>
              <a:t>Update the value of A, B, C, D, E, F, G, H using the Hash Function till 80 iterations by rotating one by one.</a:t>
            </a:r>
          </a:p>
          <a:p>
            <a:pPr lvl="1"/>
            <a:r>
              <a:rPr lang="en-GB" dirty="0"/>
              <a:t>Now, update the value of A, B, C, D, E, F, G, H by the summation of previous values of A, B, C, D, E, F, G, H and the newly updated value of A, B, C, D, E, F, G, H.</a:t>
            </a:r>
          </a:p>
          <a:p>
            <a:r>
              <a:rPr lang="en-GB" dirty="0"/>
              <a:t>After completing the above steps, print the hexadecimal values of A, B, C, D, E, F, G, H to get the Hash Value of the given string.</a:t>
            </a:r>
          </a:p>
        </p:txBody>
      </p:sp>
    </p:spTree>
    <p:extLst>
      <p:ext uri="{BB962C8B-B14F-4D97-AF65-F5344CB8AC3E}">
        <p14:creationId xmlns:p14="http://schemas.microsoft.com/office/powerpoint/2010/main" val="34388231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D0AD2-3125-3ED3-543A-005A42CC843E}"/>
              </a:ext>
            </a:extLst>
          </p:cNvPr>
          <p:cNvSpPr>
            <a:spLocks noGrp="1"/>
          </p:cNvSpPr>
          <p:nvPr>
            <p:ph type="title"/>
          </p:nvPr>
        </p:nvSpPr>
        <p:spPr/>
        <p:txBody>
          <a:bodyPr/>
          <a:lstStyle/>
          <a:p>
            <a:r>
              <a:rPr lang="en-GB" dirty="0"/>
              <a:t>Initialization of A, B, C, D...</a:t>
            </a:r>
          </a:p>
        </p:txBody>
      </p:sp>
      <p:sp>
        <p:nvSpPr>
          <p:cNvPr id="3" name="Content Placeholder 2">
            <a:extLst>
              <a:ext uri="{FF2B5EF4-FFF2-40B4-BE49-F238E27FC236}">
                <a16:creationId xmlns:a16="http://schemas.microsoft.com/office/drawing/2014/main" id="{8FA0B773-E1B0-E087-B3ED-6FD6FEC978A7}"/>
              </a:ext>
            </a:extLst>
          </p:cNvPr>
          <p:cNvSpPr>
            <a:spLocks noGrp="1"/>
          </p:cNvSpPr>
          <p:nvPr>
            <p:ph idx="1"/>
          </p:nvPr>
        </p:nvSpPr>
        <p:spPr/>
        <p:txBody>
          <a:bodyPr/>
          <a:lstStyle/>
          <a:p>
            <a:r>
              <a:rPr lang="pt-BR" dirty="0"/>
              <a:t>A = H0 = 6a09e667f3bcc908</a:t>
            </a:r>
          </a:p>
          <a:p>
            <a:r>
              <a:rPr lang="pt-BR" dirty="0"/>
              <a:t>B = H1 = bb67ae8584caa73b</a:t>
            </a:r>
          </a:p>
          <a:p>
            <a:r>
              <a:rPr lang="pt-BR" dirty="0"/>
              <a:t>C = H2 = 3c6ef372fe94f82b</a:t>
            </a:r>
          </a:p>
          <a:p>
            <a:r>
              <a:rPr lang="pt-BR" dirty="0"/>
              <a:t>D = H3 = a54ff53a5f1d36f1</a:t>
            </a:r>
          </a:p>
          <a:p>
            <a:r>
              <a:rPr lang="pt-BR" dirty="0"/>
              <a:t>E = H4 = 510e527fade682d1</a:t>
            </a:r>
          </a:p>
          <a:p>
            <a:r>
              <a:rPr lang="pt-BR" dirty="0"/>
              <a:t>F = H5 = 9b05688c2b3e6c1f</a:t>
            </a:r>
          </a:p>
          <a:p>
            <a:r>
              <a:rPr lang="pt-BR" dirty="0"/>
              <a:t>G = H6 = 1f83d9abfb41bd6b</a:t>
            </a:r>
          </a:p>
          <a:p>
            <a:r>
              <a:rPr lang="pt-BR" dirty="0"/>
              <a:t>H = H7 = 5be0cd19137e2179</a:t>
            </a:r>
            <a:endParaRPr lang="en-GB" dirty="0"/>
          </a:p>
        </p:txBody>
      </p:sp>
    </p:spTree>
    <p:extLst>
      <p:ext uri="{BB962C8B-B14F-4D97-AF65-F5344CB8AC3E}">
        <p14:creationId xmlns:p14="http://schemas.microsoft.com/office/powerpoint/2010/main" val="6954078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B7C2D-7A10-0723-5A81-9389B880BE4C}"/>
              </a:ext>
            </a:extLst>
          </p:cNvPr>
          <p:cNvSpPr>
            <a:spLocks noGrp="1"/>
          </p:cNvSpPr>
          <p:nvPr>
            <p:ph type="title"/>
          </p:nvPr>
        </p:nvSpPr>
        <p:spPr/>
        <p:txBody>
          <a:bodyPr/>
          <a:lstStyle/>
          <a:p>
            <a:r>
              <a:rPr lang="fr-FR" dirty="0"/>
              <a:t>Message </a:t>
            </a:r>
            <a:r>
              <a:rPr lang="fr-FR" dirty="0" err="1"/>
              <a:t>Authentication</a:t>
            </a:r>
            <a:r>
              <a:rPr lang="fr-FR" dirty="0"/>
              <a:t> - Message </a:t>
            </a:r>
            <a:r>
              <a:rPr lang="fr-FR" dirty="0" err="1"/>
              <a:t>Authentication</a:t>
            </a:r>
            <a:r>
              <a:rPr lang="fr-FR" dirty="0"/>
              <a:t> Codes (</a:t>
            </a:r>
            <a:r>
              <a:rPr lang="fr-FR" dirty="0" err="1"/>
              <a:t>MACs</a:t>
            </a:r>
            <a:r>
              <a:rPr lang="fr-FR" dirty="0"/>
              <a:t>)</a:t>
            </a:r>
            <a:endParaRPr lang="en-GB" dirty="0"/>
          </a:p>
        </p:txBody>
      </p:sp>
      <p:sp>
        <p:nvSpPr>
          <p:cNvPr id="3" name="Content Placeholder 2">
            <a:extLst>
              <a:ext uri="{FF2B5EF4-FFF2-40B4-BE49-F238E27FC236}">
                <a16:creationId xmlns:a16="http://schemas.microsoft.com/office/drawing/2014/main" id="{FCDEEFE5-7335-D0FA-69F1-04CFEEBEFBDA}"/>
              </a:ext>
            </a:extLst>
          </p:cNvPr>
          <p:cNvSpPr>
            <a:spLocks noGrp="1"/>
          </p:cNvSpPr>
          <p:nvPr>
            <p:ph idx="1"/>
          </p:nvPr>
        </p:nvSpPr>
        <p:spPr/>
        <p:txBody>
          <a:bodyPr/>
          <a:lstStyle/>
          <a:p>
            <a:r>
              <a:rPr lang="en-GB" dirty="0"/>
              <a:t>Definition: A MAC is a short piece of information used to authenticate a message and ensure its integrity.</a:t>
            </a:r>
          </a:p>
          <a:p>
            <a:endParaRPr lang="en-GB" dirty="0"/>
          </a:p>
          <a:p>
            <a:r>
              <a:rPr lang="en-GB" dirty="0"/>
              <a:t>Properties:</a:t>
            </a:r>
          </a:p>
          <a:p>
            <a:pPr lvl="1"/>
            <a:r>
              <a:rPr lang="en-GB" dirty="0"/>
              <a:t>Provides message integrity and authenticity.</a:t>
            </a:r>
          </a:p>
          <a:p>
            <a:pPr lvl="1"/>
            <a:r>
              <a:rPr lang="en-GB" dirty="0"/>
              <a:t>Uses a secret key along with the hash function.</a:t>
            </a:r>
          </a:p>
        </p:txBody>
      </p:sp>
    </p:spTree>
    <p:extLst>
      <p:ext uri="{BB962C8B-B14F-4D97-AF65-F5344CB8AC3E}">
        <p14:creationId xmlns:p14="http://schemas.microsoft.com/office/powerpoint/2010/main" val="1339631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E4FE0-A467-CBE0-C25E-DF4185E1BF79}"/>
              </a:ext>
            </a:extLst>
          </p:cNvPr>
          <p:cNvSpPr>
            <a:spLocks noGrp="1"/>
          </p:cNvSpPr>
          <p:nvPr>
            <p:ph type="title"/>
          </p:nvPr>
        </p:nvSpPr>
        <p:spPr/>
        <p:txBody>
          <a:bodyPr/>
          <a:lstStyle/>
          <a:p>
            <a:r>
              <a:rPr lang="en-GB" dirty="0"/>
              <a:t>Constructions of Secure Message Authentication Codes</a:t>
            </a:r>
          </a:p>
        </p:txBody>
      </p:sp>
      <p:sp>
        <p:nvSpPr>
          <p:cNvPr id="3" name="Content Placeholder 2">
            <a:extLst>
              <a:ext uri="{FF2B5EF4-FFF2-40B4-BE49-F238E27FC236}">
                <a16:creationId xmlns:a16="http://schemas.microsoft.com/office/drawing/2014/main" id="{0A42B80A-A438-887C-5949-FC962FF6B754}"/>
              </a:ext>
            </a:extLst>
          </p:cNvPr>
          <p:cNvSpPr>
            <a:spLocks noGrp="1"/>
          </p:cNvSpPr>
          <p:nvPr>
            <p:ph idx="1"/>
          </p:nvPr>
        </p:nvSpPr>
        <p:spPr/>
        <p:txBody>
          <a:bodyPr/>
          <a:lstStyle/>
          <a:p>
            <a:r>
              <a:rPr lang="en-GB" dirty="0"/>
              <a:t>HMAC (Hash-based Message Authentication Code):</a:t>
            </a:r>
          </a:p>
          <a:p>
            <a:pPr lvl="1"/>
            <a:r>
              <a:rPr lang="en-GB" dirty="0"/>
              <a:t>Uses a hash function combined with a secret key.</a:t>
            </a:r>
          </a:p>
          <a:p>
            <a:pPr lvl="1"/>
            <a:r>
              <a:rPr lang="en-GB" dirty="0"/>
              <a:t>Commonly used with SHA-256, SHA-512.</a:t>
            </a:r>
          </a:p>
          <a:p>
            <a:endParaRPr lang="en-GB" dirty="0"/>
          </a:p>
          <a:p>
            <a:r>
              <a:rPr lang="en-GB" dirty="0"/>
              <a:t>CMAC (Cipher-based Message Authentication Code):</a:t>
            </a:r>
          </a:p>
          <a:p>
            <a:pPr lvl="1"/>
            <a:r>
              <a:rPr lang="en-GB" dirty="0"/>
              <a:t>Uses block ciphers (e.g., AES) instead of hash functions.</a:t>
            </a:r>
          </a:p>
          <a:p>
            <a:pPr lvl="1"/>
            <a:r>
              <a:rPr lang="en-GB" dirty="0"/>
              <a:t>Provides secure authentication for messages.</a:t>
            </a:r>
          </a:p>
        </p:txBody>
      </p:sp>
    </p:spTree>
    <p:extLst>
      <p:ext uri="{BB962C8B-B14F-4D97-AF65-F5344CB8AC3E}">
        <p14:creationId xmlns:p14="http://schemas.microsoft.com/office/powerpoint/2010/main" val="11896068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B5F7C-7A2D-D08F-EBE9-2FA68B0342A1}"/>
              </a:ext>
            </a:extLst>
          </p:cNvPr>
          <p:cNvSpPr>
            <a:spLocks noGrp="1"/>
          </p:cNvSpPr>
          <p:nvPr>
            <p:ph type="title"/>
          </p:nvPr>
        </p:nvSpPr>
        <p:spPr/>
        <p:txBody>
          <a:bodyPr/>
          <a:lstStyle/>
          <a:p>
            <a:r>
              <a:rPr lang="en-GB" dirty="0"/>
              <a:t>Practical Constructions of Message Authentication Codes</a:t>
            </a:r>
          </a:p>
        </p:txBody>
      </p:sp>
      <p:sp>
        <p:nvSpPr>
          <p:cNvPr id="3" name="Content Placeholder 2">
            <a:extLst>
              <a:ext uri="{FF2B5EF4-FFF2-40B4-BE49-F238E27FC236}">
                <a16:creationId xmlns:a16="http://schemas.microsoft.com/office/drawing/2014/main" id="{116D82E2-D99E-F252-B96E-ACAE08F25CE0}"/>
              </a:ext>
            </a:extLst>
          </p:cNvPr>
          <p:cNvSpPr>
            <a:spLocks noGrp="1"/>
          </p:cNvSpPr>
          <p:nvPr>
            <p:ph idx="1"/>
          </p:nvPr>
        </p:nvSpPr>
        <p:spPr/>
        <p:txBody>
          <a:bodyPr/>
          <a:lstStyle/>
          <a:p>
            <a:r>
              <a:rPr lang="en-GB" dirty="0"/>
              <a:t>HMAC: Used in HTTPS, TLS, and IPsec for secure communication.</a:t>
            </a:r>
          </a:p>
          <a:p>
            <a:r>
              <a:rPr lang="en-GB" dirty="0"/>
              <a:t>CMAC: Often used in applications that require a high level of data integrity.</a:t>
            </a:r>
          </a:p>
        </p:txBody>
      </p:sp>
    </p:spTree>
    <p:extLst>
      <p:ext uri="{BB962C8B-B14F-4D97-AF65-F5344CB8AC3E}">
        <p14:creationId xmlns:p14="http://schemas.microsoft.com/office/powerpoint/2010/main" val="11370914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TotalTime>
  <Words>1690</Words>
  <Application>Microsoft Office PowerPoint</Application>
  <PresentationFormat>Widescreen</PresentationFormat>
  <Paragraphs>123</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Aptos</vt:lpstr>
      <vt:lpstr>Aptos Display</vt:lpstr>
      <vt:lpstr>Arial</vt:lpstr>
      <vt:lpstr>Office Theme</vt:lpstr>
      <vt:lpstr>Hash Functions</vt:lpstr>
      <vt:lpstr>Introduction to Hash Functions</vt:lpstr>
      <vt:lpstr>Properties of Collision-Resistant Hash Functions</vt:lpstr>
      <vt:lpstr>Example</vt:lpstr>
      <vt:lpstr>Example (contd.)</vt:lpstr>
      <vt:lpstr>Popular Uses of Collision-Resistant Hash Functions</vt:lpstr>
      <vt:lpstr>Random Oracle</vt:lpstr>
      <vt:lpstr>How?</vt:lpstr>
      <vt:lpstr>Scenario</vt:lpstr>
      <vt:lpstr>Goal</vt:lpstr>
      <vt:lpstr>Procedure</vt:lpstr>
      <vt:lpstr>Procedure</vt:lpstr>
      <vt:lpstr>How ROM Helps?</vt:lpstr>
      <vt:lpstr>How ROM Helps?</vt:lpstr>
      <vt:lpstr>Hash Algorithms - SHA-512</vt:lpstr>
      <vt:lpstr>Steps</vt:lpstr>
      <vt:lpstr>Steps (contd.)</vt:lpstr>
      <vt:lpstr>Steps (contd.)</vt:lpstr>
      <vt:lpstr>Initialization of A, B, C, D...</vt:lpstr>
      <vt:lpstr>Message Authentication - Message Authentication Codes (MACs)</vt:lpstr>
      <vt:lpstr>Constructions of Secure Message Authentication Codes</vt:lpstr>
      <vt:lpstr>Practical Constructions of Message Authentication Codes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Nachiket Tapas</dc:creator>
  <cp:lastModifiedBy>Nachiket Tapas</cp:lastModifiedBy>
  <cp:revision>37</cp:revision>
  <dcterms:created xsi:type="dcterms:W3CDTF">2024-11-14T00:20:07Z</dcterms:created>
  <dcterms:modified xsi:type="dcterms:W3CDTF">2024-11-14T04:59:33Z</dcterms:modified>
</cp:coreProperties>
</file>