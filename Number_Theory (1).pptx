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5" r:id="rId23"/>
    <p:sldId id="278" r:id="rId24"/>
    <p:sldId id="279" r:id="rId25"/>
    <p:sldId id="280" r:id="rId26"/>
    <p:sldId id="281" r:id="rId27"/>
    <p:sldId id="282" r:id="rId28"/>
    <p:sldId id="283" r:id="rId29"/>
    <p:sldId id="290" r:id="rId30"/>
    <p:sldId id="291" r:id="rId31"/>
    <p:sldId id="294" r:id="rId32"/>
    <p:sldId id="284" r:id="rId33"/>
    <p:sldId id="285" r:id="rId34"/>
    <p:sldId id="286" r:id="rId35"/>
    <p:sldId id="295" r:id="rId36"/>
    <p:sldId id="296" r:id="rId37"/>
    <p:sldId id="297" r:id="rId38"/>
    <p:sldId id="287" r:id="rId39"/>
    <p:sldId id="299" r:id="rId40"/>
    <p:sldId id="288" r:id="rId41"/>
    <p:sldId id="300" r:id="rId42"/>
    <p:sldId id="301" r:id="rId43"/>
    <p:sldId id="289" r:id="rId44"/>
    <p:sldId id="292" r:id="rId45"/>
    <p:sldId id="293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298D8-03B5-ABF9-4681-A7AB6DCFD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4E8D91-5293-F406-A0FD-9CAA6E559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93037-AA49-3031-5720-621E653F5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7994-EEEB-43DF-9799-24EB12FE09D9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15A33-C698-D127-3FE2-C0C22DF6C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3600F-F52F-04C3-3F91-2781E98C7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DA1-53EE-43E9-B7C3-8A36D8365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208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5997-1117-3F10-E5A4-333EC55BB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1E51D-5BE4-647B-0C7B-6BEFE2016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4B3A3-FE74-93E8-A853-2790AF245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7994-EEEB-43DF-9799-24EB12FE09D9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06506-B7F6-CA75-9F52-54C0F08AC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B6839-576E-A65A-DC8E-710F0F831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DA1-53EE-43E9-B7C3-8A36D8365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316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53537-EB54-7D6E-11A8-3A5929E29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5CF29-E6F7-E1E9-28EA-3F1BE6240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1C28B-E923-8430-C3D8-58A961B6F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7994-EEEB-43DF-9799-24EB12FE09D9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32AA-1BA6-F5C7-09AC-CA439FC0A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58FEF-FE76-689A-632F-6E25956A7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DA1-53EE-43E9-B7C3-8A36D8365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717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8489B-C1A3-4542-70F4-812E6E700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07516-2CB1-6915-34CC-8F83F058B9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86688F-8CCB-A270-954D-A845FD837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40181-4E2B-0D14-FC0A-28AA5FB3C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7994-EEEB-43DF-9799-24EB12FE09D9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6DDEE-02FC-7021-B5BA-3129E1F79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81AA3-FF7C-5CAF-D0ED-8D54D9030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DA1-53EE-43E9-B7C3-8A36D8365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007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2520-0E4B-6C23-0BCF-98673B4E9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EFC38-782A-89C8-67A8-71566B489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EA943-C12F-4BE3-3DD1-0637139AC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5F5CC9-79A7-F2A1-C87F-95091FC45F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857DC0-188A-9237-C878-A6439E7A1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7A9B15-75C3-5BF8-CB2A-C94C34A8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7994-EEEB-43DF-9799-24EB12FE09D9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DFC679-DEDD-4996-57C2-3561C2014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5EFD8F-6677-027D-DBBA-6A0BF706D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DA1-53EE-43E9-B7C3-8A36D8365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941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FBEA5-4984-9143-4E5F-13F459AE9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5F6AD2-903B-8F6B-C25C-E5E035635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7994-EEEB-43DF-9799-24EB12FE09D9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27DA8-50E1-B9FD-8A28-1AC98B9BA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E46C98-697D-EAA2-580B-1DEA9CAD7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DA1-53EE-43E9-B7C3-8A36D8365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594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F9F6A6-5AF5-764F-C6E7-C2E717A10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7994-EEEB-43DF-9799-24EB12FE09D9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1D8666-C3E1-21D2-93B8-B50C6DCA7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0DA1C-D507-099E-52F5-E8E2F525B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DA1-53EE-43E9-B7C3-8A36D8365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276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16E72-0922-CD65-044C-0BF8189D6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D1D88-A861-4036-E48F-7CAFBA03E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5234D3-55D0-3804-1C07-940F2A7F0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F2863-C918-C951-6D82-3FDAF895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7994-EEEB-43DF-9799-24EB12FE09D9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0F6A7-6054-F60B-448D-BE1C823B8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F83B9-8951-CB12-1E2C-C55FBB90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DA1-53EE-43E9-B7C3-8A36D8365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2659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7FA48-8C1B-F114-2770-3BC5DE85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D1D6A1-17EB-96BC-DDB9-E53F0B9359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8A9A5-BD11-ED4C-F487-CE817B3F8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F1229-D9C1-DD81-A37D-AAE1DC432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7994-EEEB-43DF-9799-24EB12FE09D9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71792-870F-B105-78DB-0EE6CE26B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0CD232-6FA6-3DE7-F322-1CCAFA18C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DA1-53EE-43E9-B7C3-8A36D8365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699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D6C22-BA3A-C08C-91A3-6103BA610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9CBEA-506E-73BC-A710-2EAB8A2C8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86C0A-7F7F-0C6F-99C7-B5AFD717C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7994-EEEB-43DF-9799-24EB12FE09D9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84A36-FB0F-2DEF-27D6-F521668E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ACEF0-B601-F101-0395-9E49E47C5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DA1-53EE-43E9-B7C3-8A36D8365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82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02206-4E84-9A7F-5CB1-37EAE931C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1167A5-332A-8FCC-7AD5-DBBE1F418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A7FF3-C636-087D-02DC-3A1D91CAA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7994-EEEB-43DF-9799-24EB12FE09D9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FA7D5-0514-4C12-7CAC-546F4225B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811DD-6144-F54E-6A41-0B4485568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DA1-53EE-43E9-B7C3-8A36D8365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81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94A1F9-4904-080C-B6BB-331F7E842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63FB0-1892-681E-BE86-1A90A70D4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9040F-7003-176F-291D-A8B6BA5D92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D77994-EEEB-43DF-9799-24EB12FE09D9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93256-4799-4CFF-9BA9-06A862999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B2323-23DD-C6F9-1BF2-69EE16777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D4EDA1-53EE-43E9-B7C3-8A36D8365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796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Pq8gNbvfaoM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A72F3-FE4C-714D-424B-0C0F4C49BF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Unit – II</a:t>
            </a:r>
            <a:br>
              <a:rPr lang="en-GB" dirty="0"/>
            </a:br>
            <a:r>
              <a:rPr lang="en-GB" dirty="0"/>
              <a:t>Number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C668B-064F-32D8-77C8-CA0999BA76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Dr.</a:t>
            </a:r>
            <a:r>
              <a:rPr lang="en-GB" dirty="0"/>
              <a:t> Nachiket Tapas</a:t>
            </a:r>
          </a:p>
        </p:txBody>
      </p:sp>
    </p:spTree>
    <p:extLst>
      <p:ext uri="{BB962C8B-B14F-4D97-AF65-F5344CB8AC3E}">
        <p14:creationId xmlns:p14="http://schemas.microsoft.com/office/powerpoint/2010/main" val="4128143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99C9-59AB-2E4D-B698-55B4FF933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5A5E2-5169-F27A-08DA-C1AB804A3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Divisibility and Division Algorithm</a:t>
            </a:r>
          </a:p>
          <a:p>
            <a:r>
              <a:rPr lang="en-GB" dirty="0"/>
              <a:t>The Euclidean Algorithm</a:t>
            </a:r>
          </a:p>
          <a:p>
            <a:r>
              <a:rPr lang="en-GB" dirty="0"/>
              <a:t>Modular Arithmetic</a:t>
            </a:r>
          </a:p>
          <a:p>
            <a:r>
              <a:rPr lang="en-GB" dirty="0"/>
              <a:t>Prime Numbers</a:t>
            </a:r>
          </a:p>
          <a:p>
            <a:r>
              <a:rPr lang="en-GB" dirty="0"/>
              <a:t>Fermat’s and Euler’s Theorem</a:t>
            </a:r>
          </a:p>
          <a:p>
            <a:r>
              <a:rPr lang="en-GB" dirty="0"/>
              <a:t>Testing for Primality</a:t>
            </a:r>
          </a:p>
          <a:p>
            <a:r>
              <a:rPr lang="en-GB" dirty="0"/>
              <a:t>The Chinese Remainder Theorem</a:t>
            </a:r>
          </a:p>
          <a:p>
            <a:r>
              <a:rPr lang="en-GB" dirty="0"/>
              <a:t>Discrete Logarithms</a:t>
            </a:r>
          </a:p>
          <a:p>
            <a:r>
              <a:rPr lang="en-GB" dirty="0"/>
              <a:t>Finite Fields</a:t>
            </a:r>
          </a:p>
        </p:txBody>
      </p:sp>
    </p:spTree>
    <p:extLst>
      <p:ext uri="{BB962C8B-B14F-4D97-AF65-F5344CB8AC3E}">
        <p14:creationId xmlns:p14="http://schemas.microsoft.com/office/powerpoint/2010/main" val="1519949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F765C-0BCA-1396-3286-B8E32805B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Divisibility and the Division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08098-DB71-1C5B-8A52-DA4703133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say that a nonzero b divides a if a = mb for some m, where a, b, and m are integers.</a:t>
            </a:r>
          </a:p>
          <a:p>
            <a:endParaRPr lang="en-GB" dirty="0"/>
          </a:p>
          <a:p>
            <a:r>
              <a:rPr lang="en-GB" dirty="0"/>
              <a:t>That is, b divides a if there is no remainder on division. 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				</a:t>
            </a:r>
            <a:r>
              <a:rPr lang="en-GB" sz="3600" dirty="0">
                <a:solidFill>
                  <a:srgbClr val="FF0000"/>
                </a:solidFill>
              </a:rPr>
              <a:t>	b | a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769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5AE7-B1D9-7C6D-C45A-AEE51BFDB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FB8B3-E6D6-06BE-F5E9-65EA0F02F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a|1, then a = ±1.</a:t>
            </a:r>
          </a:p>
          <a:p>
            <a:r>
              <a:rPr lang="en-GB" dirty="0"/>
              <a:t>If </a:t>
            </a:r>
            <a:r>
              <a:rPr lang="en-GB" dirty="0" err="1"/>
              <a:t>a|b</a:t>
            </a:r>
            <a:r>
              <a:rPr lang="en-GB" dirty="0"/>
              <a:t> and </a:t>
            </a:r>
            <a:r>
              <a:rPr lang="en-GB" dirty="0" err="1"/>
              <a:t>b|a</a:t>
            </a:r>
            <a:r>
              <a:rPr lang="en-GB" dirty="0"/>
              <a:t>, then a = ±1.</a:t>
            </a:r>
          </a:p>
          <a:p>
            <a:r>
              <a:rPr lang="en-GB" dirty="0"/>
              <a:t>Any b ≠ 0 divides 0.</a:t>
            </a:r>
          </a:p>
          <a:p>
            <a:r>
              <a:rPr lang="en-GB" dirty="0"/>
              <a:t>If </a:t>
            </a:r>
            <a:r>
              <a:rPr lang="en-GB" dirty="0" err="1"/>
              <a:t>a|b</a:t>
            </a:r>
            <a:r>
              <a:rPr lang="en-GB" dirty="0"/>
              <a:t> and </a:t>
            </a:r>
            <a:r>
              <a:rPr lang="en-GB" dirty="0" err="1"/>
              <a:t>b|c</a:t>
            </a:r>
            <a:r>
              <a:rPr lang="en-GB" dirty="0"/>
              <a:t>, then </a:t>
            </a:r>
            <a:r>
              <a:rPr lang="en-GB" dirty="0" err="1"/>
              <a:t>a|c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4488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5AE7-B1D9-7C6D-C45A-AEE51BFDB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FB8B3-E6D6-06BE-F5E9-65EA0F02F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</a:t>
            </a:r>
            <a:r>
              <a:rPr lang="en-GB" dirty="0" err="1"/>
              <a:t>b|g</a:t>
            </a:r>
            <a:r>
              <a:rPr lang="en-GB" dirty="0"/>
              <a:t> and </a:t>
            </a:r>
            <a:r>
              <a:rPr lang="en-GB" dirty="0" err="1"/>
              <a:t>b|h</a:t>
            </a:r>
            <a:r>
              <a:rPr lang="en-GB" dirty="0"/>
              <a:t>, then b|(mg + </a:t>
            </a:r>
            <a:r>
              <a:rPr lang="en-GB" dirty="0" err="1"/>
              <a:t>nh</a:t>
            </a:r>
            <a:r>
              <a:rPr lang="en-GB" dirty="0"/>
              <a:t>) for arbitrary integers m and n.</a:t>
            </a:r>
          </a:p>
          <a:p>
            <a:pPr marL="0" indent="0">
              <a:buNone/>
            </a:pPr>
            <a:r>
              <a:rPr lang="en-GB" dirty="0"/>
              <a:t>Proof:</a:t>
            </a:r>
          </a:p>
          <a:p>
            <a:pPr marL="0" indent="0">
              <a:buNone/>
            </a:pPr>
            <a:r>
              <a:rPr lang="en-GB" dirty="0"/>
              <a:t>If </a:t>
            </a:r>
            <a:r>
              <a:rPr lang="en-GB" dirty="0" err="1"/>
              <a:t>b|g</a:t>
            </a:r>
            <a:r>
              <a:rPr lang="en-GB" dirty="0"/>
              <a:t>, then g is of the form g = b x g1 for some integer g1.</a:t>
            </a:r>
          </a:p>
          <a:p>
            <a:pPr marL="0" indent="0">
              <a:buNone/>
            </a:pPr>
            <a:r>
              <a:rPr lang="en-GB" dirty="0"/>
              <a:t>If </a:t>
            </a:r>
            <a:r>
              <a:rPr lang="en-GB" dirty="0" err="1"/>
              <a:t>b|h</a:t>
            </a:r>
            <a:r>
              <a:rPr lang="en-GB" dirty="0"/>
              <a:t>, then h is of the form h = b x h1 for some integer h1.</a:t>
            </a:r>
          </a:p>
          <a:p>
            <a:pPr marL="0" indent="0">
              <a:buNone/>
            </a:pPr>
            <a:r>
              <a:rPr lang="en-GB" dirty="0"/>
              <a:t>Then:</a:t>
            </a:r>
          </a:p>
          <a:p>
            <a:pPr marL="0" indent="0">
              <a:buNone/>
            </a:pPr>
            <a:r>
              <a:rPr lang="en-GB" dirty="0"/>
              <a:t>mg + </a:t>
            </a:r>
            <a:r>
              <a:rPr lang="en-GB" dirty="0" err="1"/>
              <a:t>nh</a:t>
            </a:r>
            <a:r>
              <a:rPr lang="en-GB" dirty="0"/>
              <a:t> = m x b x g1 + n x b x h1 = b x (mg1 + nh1) </a:t>
            </a:r>
          </a:p>
          <a:p>
            <a:pPr marL="0" indent="0">
              <a:buNone/>
            </a:pPr>
            <a:r>
              <a:rPr lang="en-GB" dirty="0"/>
              <a:t>and thus, b divides mg + </a:t>
            </a:r>
            <a:r>
              <a:rPr lang="en-GB" dirty="0" err="1"/>
              <a:t>nh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417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35A2F-140A-1400-BBEB-F8EB92EDB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B52D7-CD5F-C2D6-51F6-2CA01D959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 = 7; g = 14; h = 63; m = 3; n = 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7003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72D23-D6C3-9B98-A1DD-91857DD31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Division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84CD51-9007-B043-DB65-A8EED9E0A8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Given any positive integer n and any nonnegative integer a, if we divide a by n, we get an integer quotient q and an integer remainder r that obey the following relationship: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	a = q x n + r		0 ≤ r &lt; n; q =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where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the largest integer less than or equal to x.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84CD51-9007-B043-DB65-A8EED9E0A8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8685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EF6A-AE1A-1254-4FD5-6CD85ED2F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3EABB-5B46-D757-61DE-C44EB18C9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= 11; n = 7;</a:t>
            </a:r>
          </a:p>
        </p:txBody>
      </p:sp>
    </p:spTree>
    <p:extLst>
      <p:ext uri="{BB962C8B-B14F-4D97-AF65-F5344CB8AC3E}">
        <p14:creationId xmlns:p14="http://schemas.microsoft.com/office/powerpoint/2010/main" val="3153827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B7A8-1914-149A-3A8D-CC1D3DD3E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Euclidean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EC2CB-4BAB-0DA6-60A1-60C6F4DD8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is a simple procedure for determining the greatest common divisor of two positive integers.</a:t>
            </a:r>
          </a:p>
          <a:p>
            <a:endParaRPr lang="en-GB" dirty="0"/>
          </a:p>
          <a:p>
            <a:r>
              <a:rPr lang="en-GB" dirty="0"/>
              <a:t>Two integers are relatively prime if and only if their only common positive integer factor is 1.</a:t>
            </a:r>
          </a:p>
        </p:txBody>
      </p:sp>
    </p:spTree>
    <p:extLst>
      <p:ext uri="{BB962C8B-B14F-4D97-AF65-F5344CB8AC3E}">
        <p14:creationId xmlns:p14="http://schemas.microsoft.com/office/powerpoint/2010/main" val="3424018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B5B0C-03EA-9CCE-EAC2-58479F90C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Greatest Common Divisor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6AC79-9AF4-BC65-1409-2BD26F661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will use the notation </a:t>
            </a:r>
            <a:r>
              <a:rPr lang="en-GB" dirty="0" err="1">
                <a:solidFill>
                  <a:srgbClr val="FF0000"/>
                </a:solidFill>
              </a:rPr>
              <a:t>gcd</a:t>
            </a:r>
            <a:r>
              <a:rPr lang="en-GB" dirty="0">
                <a:solidFill>
                  <a:srgbClr val="FF0000"/>
                </a:solidFill>
              </a:rPr>
              <a:t>(a, b)</a:t>
            </a:r>
            <a:r>
              <a:rPr lang="en-GB" dirty="0"/>
              <a:t> to mean the greatest common divisor of a and b. </a:t>
            </a:r>
          </a:p>
          <a:p>
            <a:endParaRPr lang="en-GB" dirty="0"/>
          </a:p>
          <a:p>
            <a:r>
              <a:rPr lang="en-GB" dirty="0"/>
              <a:t>The greatest common divisor of a and b is the largest integer that divides both a and b. </a:t>
            </a:r>
          </a:p>
          <a:p>
            <a:endParaRPr lang="en-GB" dirty="0"/>
          </a:p>
          <a:p>
            <a:r>
              <a:rPr lang="en-GB" dirty="0"/>
              <a:t>We also define </a:t>
            </a:r>
            <a:r>
              <a:rPr lang="en-GB" dirty="0" err="1">
                <a:solidFill>
                  <a:srgbClr val="FF0000"/>
                </a:solidFill>
              </a:rPr>
              <a:t>gcd</a:t>
            </a:r>
            <a:r>
              <a:rPr lang="en-GB" dirty="0">
                <a:solidFill>
                  <a:srgbClr val="FF0000"/>
                </a:solidFill>
              </a:rPr>
              <a:t>(0, 0) = 0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5010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376FC-D044-78E6-0A01-292AE6D9F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7A673-EC45-1C85-76B9-281EAF0BC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gcd</a:t>
            </a:r>
            <a:r>
              <a:rPr lang="en-GB" dirty="0"/>
              <a:t>(60, 24) 							</a:t>
            </a:r>
            <a:r>
              <a:rPr lang="en-GB" dirty="0" err="1"/>
              <a:t>gcd</a:t>
            </a:r>
            <a:r>
              <a:rPr lang="en-GB" dirty="0"/>
              <a:t>(60, -24) </a:t>
            </a:r>
          </a:p>
        </p:txBody>
      </p:sp>
    </p:spTree>
    <p:extLst>
      <p:ext uri="{BB962C8B-B14F-4D97-AF65-F5344CB8AC3E}">
        <p14:creationId xmlns:p14="http://schemas.microsoft.com/office/powerpoint/2010/main" val="1487020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C9874-0001-91B1-9EC4-DC72D114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BC597-4B63-F781-7E0D-29C95E6EB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Suppose we wish to determine the greatest common divisor d of the integers a and b; that is determine d = </a:t>
            </a:r>
            <a:r>
              <a:rPr lang="en-GB" dirty="0" err="1"/>
              <a:t>gcd</a:t>
            </a:r>
            <a:r>
              <a:rPr lang="en-GB" dirty="0"/>
              <a:t>(a, b). Because </a:t>
            </a:r>
            <a:r>
              <a:rPr lang="en-GB" dirty="0" err="1"/>
              <a:t>gcd</a:t>
            </a:r>
            <a:r>
              <a:rPr lang="en-GB" dirty="0"/>
              <a:t>(|a|,  |b|) = </a:t>
            </a:r>
            <a:r>
              <a:rPr lang="en-GB" dirty="0" err="1"/>
              <a:t>gcd</a:t>
            </a:r>
            <a:r>
              <a:rPr lang="en-GB" dirty="0"/>
              <a:t>(a, b), there is no harm in assuming a ≥ b &gt; 0.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Dividing a by b and applying the division algorithm, we can state: </a:t>
            </a:r>
          </a:p>
          <a:p>
            <a:pPr marL="0" indent="0">
              <a:buNone/>
            </a:pPr>
            <a:r>
              <a:rPr lang="en-GB" dirty="0"/>
              <a:t>		a = q1 x b + r1 	0 ≤ r1 &lt; b  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GB" dirty="0"/>
              <a:t>First consider the case in which r1 = 0. Therefore, b divides a and clearly no larger number divides both b and a, because that number would be larger than b. So, we have d = </a:t>
            </a:r>
            <a:r>
              <a:rPr lang="en-GB" dirty="0" err="1"/>
              <a:t>gcd</a:t>
            </a:r>
            <a:r>
              <a:rPr lang="en-GB" dirty="0"/>
              <a:t>(a, b) = b. 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GB" dirty="0"/>
              <a:t>The other possibility is r1 ≠ 0. For this case, we can state that d|r1. This is due to the basic properties of divisibility: the relations </a:t>
            </a:r>
            <a:r>
              <a:rPr lang="en-GB" dirty="0" err="1"/>
              <a:t>d|a</a:t>
            </a:r>
            <a:r>
              <a:rPr lang="en-GB" dirty="0"/>
              <a:t> and </a:t>
            </a:r>
            <a:r>
              <a:rPr lang="en-GB" dirty="0" err="1"/>
              <a:t>d|b</a:t>
            </a:r>
            <a:r>
              <a:rPr lang="en-GB" dirty="0"/>
              <a:t> together imply that d|(a - q1xb), which is the same as d|r1. 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GB" dirty="0"/>
              <a:t> Before proceeding with the Euclidian algorithm, we need to answer the question: What is the </a:t>
            </a:r>
            <a:r>
              <a:rPr lang="en-GB" dirty="0" err="1"/>
              <a:t>gcd</a:t>
            </a:r>
            <a:r>
              <a:rPr lang="en-GB" dirty="0"/>
              <a:t>(b, r1)? We know that </a:t>
            </a:r>
            <a:r>
              <a:rPr lang="en-GB" dirty="0" err="1"/>
              <a:t>d|b</a:t>
            </a:r>
            <a:r>
              <a:rPr lang="en-GB" dirty="0"/>
              <a:t> and d|r1. Now take any arbitrary integer c that divides both b and r1. Therefore, c|(q1 x b + r1) = a. Because c divides both a and b, we must have c ≤ d, which is the greatest common divisor of a and b. Therefore d = </a:t>
            </a:r>
            <a:r>
              <a:rPr lang="en-GB" dirty="0" err="1"/>
              <a:t>gcd</a:t>
            </a:r>
            <a:r>
              <a:rPr lang="en-GB" dirty="0"/>
              <a:t>(b, r1).</a:t>
            </a:r>
          </a:p>
        </p:txBody>
      </p:sp>
    </p:spTree>
    <p:extLst>
      <p:ext uri="{BB962C8B-B14F-4D97-AF65-F5344CB8AC3E}">
        <p14:creationId xmlns:p14="http://schemas.microsoft.com/office/powerpoint/2010/main" val="1895488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EA0E7-B9BE-486A-647D-C88397BF9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Algorithm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1E755-F162-132A-9787-CB243F639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D502C-8EBC-A704-21D4-DAD5944E9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122" y="1690688"/>
            <a:ext cx="6259755" cy="490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041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D4CDB-C595-3E60-F699-6C5F3A3C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A2D46-AD98-5CED-031B-E063FE266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gcd</a:t>
            </a:r>
            <a:r>
              <a:rPr lang="en-GB" dirty="0"/>
              <a:t>(710, 310)</a:t>
            </a:r>
          </a:p>
        </p:txBody>
      </p:sp>
    </p:spTree>
    <p:extLst>
      <p:ext uri="{BB962C8B-B14F-4D97-AF65-F5344CB8AC3E}">
        <p14:creationId xmlns:p14="http://schemas.microsoft.com/office/powerpoint/2010/main" val="2482840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407C5-5FFE-C4C2-5A20-5E4A3C1CE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Modular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F2947-9DE2-C8C1-4D07-B3DFD372F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a is an integer and n is a positive integer, we define a mod n to be the remainder when a is divided by 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			</a:t>
            </a:r>
            <a:r>
              <a:rPr lang="da-DK" dirty="0"/>
              <a:t> 11 mod 7 = 4; -11 mod 7 = 3</a:t>
            </a:r>
          </a:p>
          <a:p>
            <a:pPr marL="0" indent="0">
              <a:buNone/>
            </a:pPr>
            <a:endParaRPr lang="da-DK" dirty="0"/>
          </a:p>
          <a:p>
            <a:r>
              <a:rPr lang="en-GB" dirty="0"/>
              <a:t>Two integers a and b are said to be congruent modulo n, if (a mod n) = (b mod n). This is written as a ≡ b (mod n).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			</a:t>
            </a:r>
            <a:r>
              <a:rPr lang="da-DK" dirty="0"/>
              <a:t> 73 </a:t>
            </a:r>
            <a:r>
              <a:rPr lang="en-GB" dirty="0"/>
              <a:t>≡</a:t>
            </a:r>
            <a:r>
              <a:rPr lang="da-DK" dirty="0"/>
              <a:t> 4 (mod 23); 21 </a:t>
            </a:r>
            <a:r>
              <a:rPr lang="en-GB" dirty="0"/>
              <a:t>≡</a:t>
            </a:r>
            <a:r>
              <a:rPr lang="da-DK" dirty="0"/>
              <a:t> -9 (mod 10)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5188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D942F-26EF-904F-CCBD-21D4E6040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of Congruences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5E736-EA3E-73C4-8048-86AA523D8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en-GB" dirty="0"/>
              <a:t>≡</a:t>
            </a:r>
            <a:r>
              <a:rPr lang="pt-BR" dirty="0"/>
              <a:t> b (mod n) if n | (a - b). </a:t>
            </a:r>
          </a:p>
          <a:p>
            <a:r>
              <a:rPr lang="pt-BR" dirty="0"/>
              <a:t>a </a:t>
            </a:r>
            <a:r>
              <a:rPr lang="en-GB" dirty="0"/>
              <a:t>≡</a:t>
            </a:r>
            <a:r>
              <a:rPr lang="pt-BR" dirty="0"/>
              <a:t> b (mod n) implies b </a:t>
            </a:r>
            <a:r>
              <a:rPr lang="en-GB" dirty="0"/>
              <a:t>≡</a:t>
            </a:r>
            <a:r>
              <a:rPr lang="pt-BR" dirty="0"/>
              <a:t> a (mod n). </a:t>
            </a:r>
          </a:p>
          <a:p>
            <a:r>
              <a:rPr lang="pt-BR" dirty="0"/>
              <a:t>a </a:t>
            </a:r>
            <a:r>
              <a:rPr lang="en-GB" dirty="0"/>
              <a:t>≡</a:t>
            </a:r>
            <a:r>
              <a:rPr lang="pt-BR" dirty="0"/>
              <a:t> b (mod n) and b </a:t>
            </a:r>
            <a:r>
              <a:rPr lang="en-GB" dirty="0"/>
              <a:t>≡</a:t>
            </a:r>
            <a:r>
              <a:rPr lang="pt-BR" dirty="0"/>
              <a:t> c (mod n) imply a </a:t>
            </a:r>
            <a:r>
              <a:rPr lang="en-GB" dirty="0"/>
              <a:t>≡</a:t>
            </a:r>
            <a:r>
              <a:rPr lang="pt-BR" dirty="0"/>
              <a:t> c (mod n).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6563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74CBD-0DAE-D079-677C-28F83AA34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Modular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BA3CE-20BB-1355-2D46-7A0C4AFD2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[(a mod n) + (b mod n)] mod n = (a + b) mod n </a:t>
            </a:r>
          </a:p>
          <a:p>
            <a:r>
              <a:rPr lang="en-GB" dirty="0"/>
              <a:t>[(a mod n) - (b mod n)] mod n = (a - b) mod n </a:t>
            </a:r>
          </a:p>
          <a:p>
            <a:r>
              <a:rPr lang="en-GB" dirty="0"/>
              <a:t>[(a mod n) * (b mod n)] mod n = (a * b) mod n</a:t>
            </a:r>
          </a:p>
        </p:txBody>
      </p:sp>
    </p:spTree>
    <p:extLst>
      <p:ext uri="{BB962C8B-B14F-4D97-AF65-F5344CB8AC3E}">
        <p14:creationId xmlns:p14="http://schemas.microsoft.com/office/powerpoint/2010/main" val="2097309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0E0EE-7FC2-6FE6-3D6B-9D38FD1DA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AF05C-38A0-621D-074C-EA5340DFE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Find 11</a:t>
            </a:r>
            <a:r>
              <a:rPr lang="en-GB" baseline="30000" dirty="0"/>
              <a:t>7 </a:t>
            </a:r>
            <a:r>
              <a:rPr lang="en-GB" dirty="0"/>
              <a:t>mod 13</a:t>
            </a:r>
          </a:p>
        </p:txBody>
      </p:sp>
    </p:spTree>
    <p:extLst>
      <p:ext uri="{BB962C8B-B14F-4D97-AF65-F5344CB8AC3E}">
        <p14:creationId xmlns:p14="http://schemas.microsoft.com/office/powerpoint/2010/main" val="2197239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0E0EE-7FC2-6FE6-3D6B-9D38FD1DA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AF05C-38A0-621D-074C-EA5340DFE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Find 11</a:t>
            </a:r>
            <a:r>
              <a:rPr lang="en-GB" baseline="30000" dirty="0"/>
              <a:t>7 </a:t>
            </a:r>
            <a:r>
              <a:rPr lang="en-GB" dirty="0"/>
              <a:t>mod 13</a:t>
            </a:r>
          </a:p>
          <a:p>
            <a:pPr marL="0" indent="0">
              <a:buNone/>
            </a:pPr>
            <a:r>
              <a:rPr lang="da-DK" dirty="0"/>
              <a:t>11</a:t>
            </a:r>
            <a:r>
              <a:rPr lang="da-DK" baseline="30000" dirty="0"/>
              <a:t>2</a:t>
            </a:r>
            <a:r>
              <a:rPr lang="da-DK" dirty="0"/>
              <a:t> = 121 </a:t>
            </a:r>
            <a:r>
              <a:rPr lang="en-GB" dirty="0"/>
              <a:t>≡</a:t>
            </a:r>
            <a:r>
              <a:rPr lang="da-DK" dirty="0"/>
              <a:t> 4 (mod 13) </a:t>
            </a:r>
          </a:p>
          <a:p>
            <a:pPr marL="0" indent="0">
              <a:buNone/>
            </a:pPr>
            <a:r>
              <a:rPr lang="da-DK" dirty="0"/>
              <a:t>11</a:t>
            </a:r>
            <a:r>
              <a:rPr lang="da-DK" baseline="30000" dirty="0"/>
              <a:t>4</a:t>
            </a:r>
            <a:r>
              <a:rPr lang="da-DK" dirty="0"/>
              <a:t> = (11</a:t>
            </a:r>
            <a:r>
              <a:rPr lang="da-DK" baseline="30000" dirty="0"/>
              <a:t>2</a:t>
            </a:r>
            <a:r>
              <a:rPr lang="da-DK" dirty="0"/>
              <a:t> )</a:t>
            </a:r>
            <a:r>
              <a:rPr lang="da-DK" baseline="30000" dirty="0"/>
              <a:t>2</a:t>
            </a:r>
            <a:r>
              <a:rPr lang="da-DK" dirty="0"/>
              <a:t> </a:t>
            </a:r>
            <a:r>
              <a:rPr lang="en-GB" dirty="0"/>
              <a:t>≡</a:t>
            </a:r>
            <a:r>
              <a:rPr lang="da-DK" dirty="0"/>
              <a:t> 4</a:t>
            </a:r>
            <a:r>
              <a:rPr lang="da-DK" baseline="30000" dirty="0"/>
              <a:t>2</a:t>
            </a:r>
            <a:r>
              <a:rPr lang="da-DK" dirty="0"/>
              <a:t> </a:t>
            </a:r>
            <a:r>
              <a:rPr lang="en-GB" dirty="0"/>
              <a:t>≡</a:t>
            </a:r>
            <a:r>
              <a:rPr lang="da-DK" dirty="0"/>
              <a:t> 3 (mod 13) </a:t>
            </a:r>
          </a:p>
          <a:p>
            <a:pPr marL="0" indent="0">
              <a:buNone/>
            </a:pPr>
            <a:r>
              <a:rPr lang="da-DK" dirty="0"/>
              <a:t>11</a:t>
            </a:r>
            <a:r>
              <a:rPr lang="da-DK" baseline="30000" dirty="0"/>
              <a:t>7</a:t>
            </a:r>
            <a:r>
              <a:rPr lang="da-DK" dirty="0"/>
              <a:t> = 11 * 11</a:t>
            </a:r>
            <a:r>
              <a:rPr lang="da-DK" baseline="30000" dirty="0"/>
              <a:t>2</a:t>
            </a:r>
            <a:r>
              <a:rPr lang="da-DK" dirty="0"/>
              <a:t> * 11</a:t>
            </a:r>
            <a:r>
              <a:rPr lang="da-DK" baseline="30000" dirty="0"/>
              <a:t>4</a:t>
            </a:r>
            <a:r>
              <a:rPr lang="da-DK" dirty="0"/>
              <a:t> </a:t>
            </a:r>
          </a:p>
          <a:p>
            <a:pPr marL="0" indent="0">
              <a:buNone/>
            </a:pPr>
            <a:r>
              <a:rPr lang="da-DK" dirty="0"/>
              <a:t>11</a:t>
            </a:r>
            <a:r>
              <a:rPr lang="da-DK" baseline="30000" dirty="0"/>
              <a:t>7</a:t>
            </a:r>
            <a:r>
              <a:rPr lang="da-DK" dirty="0"/>
              <a:t> </a:t>
            </a:r>
            <a:r>
              <a:rPr lang="en-GB" dirty="0"/>
              <a:t>≡</a:t>
            </a:r>
            <a:r>
              <a:rPr lang="da-DK" dirty="0"/>
              <a:t> 11 * 4 * 3 </a:t>
            </a:r>
            <a:r>
              <a:rPr lang="en-GB" dirty="0"/>
              <a:t>≡</a:t>
            </a:r>
            <a:r>
              <a:rPr lang="da-DK" dirty="0"/>
              <a:t> 132 </a:t>
            </a:r>
            <a:r>
              <a:rPr lang="en-GB"/>
              <a:t>≡</a:t>
            </a:r>
            <a:r>
              <a:rPr lang="da-DK"/>
              <a:t> </a:t>
            </a:r>
            <a:r>
              <a:rPr lang="da-DK" dirty="0"/>
              <a:t>2 (mod 13)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0051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32BDC-04D4-5C53-3F6B-7EF5127DF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Additive Inverse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58894-DB44-5FFE-80F3-C8C563AC9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(x + y) mod 8 = 0, implies x and y are additive inverse for (mod 8).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err="1"/>
              <a:t>Example</a:t>
            </a:r>
            <a:r>
              <a:rPr lang="es-ES" dirty="0"/>
              <a:t>:</a:t>
            </a:r>
            <a:br>
              <a:rPr lang="es-ES" dirty="0"/>
            </a:br>
            <a:r>
              <a:rPr lang="da-DK" dirty="0"/>
              <a:t>(2 + 6) mod 8 = 0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848AFE-6CC4-7BD7-F412-FAB70FAE0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940" y="2611442"/>
            <a:ext cx="5208760" cy="388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03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2BD8C-BA24-1CD8-EFEB-9A40343D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Multiplicative Inverse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9C6B7-9853-E940-A41F-3019B5986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(x * y) mod 8 = 1 mod 8, implies x and y are multiplicative inverse.</a:t>
            </a:r>
          </a:p>
          <a:p>
            <a:endParaRPr lang="da-DK" dirty="0"/>
          </a:p>
          <a:p>
            <a:pPr marL="0" indent="0">
              <a:buNone/>
            </a:pPr>
            <a:r>
              <a:rPr lang="da-DK" dirty="0"/>
              <a:t>Example:</a:t>
            </a:r>
          </a:p>
          <a:p>
            <a:pPr marL="0" indent="0">
              <a:buNone/>
            </a:pPr>
            <a:r>
              <a:rPr lang="da-DK" dirty="0"/>
              <a:t>(3 * 3) mod 8 = 1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581210-5EB2-FCEC-38E9-023C9B21B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6605" y="2499109"/>
            <a:ext cx="5247195" cy="435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472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0E497-1BDB-D0DE-A26E-C11C5B1C7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E8544-4669-3762-DBA7-48C8433C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Set of residues</a:t>
            </a:r>
            <a:r>
              <a:rPr lang="en-GB" dirty="0"/>
              <a:t>, or </a:t>
            </a:r>
            <a:r>
              <a:rPr lang="en-GB" dirty="0">
                <a:solidFill>
                  <a:srgbClr val="FF0000"/>
                </a:solidFill>
              </a:rPr>
              <a:t>residue classes </a:t>
            </a:r>
            <a:r>
              <a:rPr lang="en-GB" dirty="0"/>
              <a:t>(mod n)</a:t>
            </a:r>
          </a:p>
          <a:p>
            <a:pPr marL="0" indent="0">
              <a:buNone/>
            </a:pPr>
            <a:r>
              <a:rPr lang="en-GB" dirty="0"/>
              <a:t>				</a:t>
            </a:r>
            <a:r>
              <a:rPr lang="pt-BR" dirty="0"/>
              <a:t>Z</a:t>
            </a:r>
            <a:r>
              <a:rPr lang="pt-BR" baseline="-25000" dirty="0"/>
              <a:t>n</a:t>
            </a:r>
            <a:r>
              <a:rPr lang="pt-BR" dirty="0"/>
              <a:t> = {0, 1, c , (n - 1)} </a:t>
            </a:r>
          </a:p>
          <a:p>
            <a:pPr marL="0" indent="0">
              <a:buNone/>
            </a:pPr>
            <a:endParaRPr lang="pt-BR" dirty="0"/>
          </a:p>
          <a:p>
            <a:r>
              <a:rPr lang="en-GB" dirty="0"/>
              <a:t>The residue classes (mod 4) are </a:t>
            </a:r>
          </a:p>
          <a:p>
            <a:pPr lvl="1"/>
            <a:r>
              <a:rPr lang="en-GB" dirty="0"/>
              <a:t>[0] = { ... , -16, -12, -8, -4, 0, 4, 8, 12, 16, ... } </a:t>
            </a:r>
          </a:p>
          <a:p>
            <a:pPr lvl="1"/>
            <a:r>
              <a:rPr lang="en-GB" dirty="0"/>
              <a:t>[1] = {... , -15, -11, -7, -3, 1, 5, 9, 13, 17, ... } </a:t>
            </a:r>
          </a:p>
          <a:p>
            <a:pPr lvl="1"/>
            <a:r>
              <a:rPr lang="en-GB" dirty="0"/>
              <a:t>[2] = {... , -14, -10, -6, -2, 2, 6, 10, 14, 18, ... } </a:t>
            </a:r>
          </a:p>
          <a:p>
            <a:pPr lvl="1"/>
            <a:r>
              <a:rPr lang="en-GB" dirty="0"/>
              <a:t>[3] = {... , -13, -9, -5, -1, 3, 7, 11, 15, 19, ... }</a:t>
            </a:r>
          </a:p>
        </p:txBody>
      </p:sp>
    </p:spTree>
    <p:extLst>
      <p:ext uri="{BB962C8B-B14F-4D97-AF65-F5344CB8AC3E}">
        <p14:creationId xmlns:p14="http://schemas.microsoft.com/office/powerpoint/2010/main" val="1849859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CAFB8-2550-9E56-9424-13E2E6AAF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945EA-1156-6A3E-4FC2-1DDF71927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(a + b) ≡ (a + c) (mod n) then b ≡ c (mod n) </a:t>
            </a:r>
            <a:r>
              <a:rPr lang="en-GB" dirty="0">
                <a:solidFill>
                  <a:srgbClr val="FF0000"/>
                </a:solidFill>
              </a:rPr>
              <a:t>How?</a:t>
            </a:r>
          </a:p>
          <a:p>
            <a:pPr marL="0" indent="0">
              <a:buNone/>
            </a:pPr>
            <a:endParaRPr lang="en-GB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da-DK" dirty="0"/>
              <a:t>(5 + 23) </a:t>
            </a:r>
            <a:r>
              <a:rPr lang="en-GB" dirty="0"/>
              <a:t>≡</a:t>
            </a:r>
            <a:r>
              <a:rPr lang="da-DK" dirty="0"/>
              <a:t> (5 + 7)(mod 8); 23 </a:t>
            </a:r>
            <a:r>
              <a:rPr lang="en-GB" dirty="0"/>
              <a:t>≡</a:t>
            </a:r>
            <a:r>
              <a:rPr lang="da-DK" dirty="0"/>
              <a:t> 7(mod 8)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8359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CAFB8-2550-9E56-9424-13E2E6AAF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945EA-1156-6A3E-4FC2-1DDF71927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(a + b) ≡ (a + c) (mod n) then b ≡ c (mod n)</a:t>
            </a:r>
          </a:p>
          <a:p>
            <a:pPr marL="0" indent="0">
              <a:buNone/>
            </a:pPr>
            <a:endParaRPr lang="en-GB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dirty="0"/>
              <a:t>Adding the additive inverse of a to both sides of equation, we have </a:t>
            </a:r>
          </a:p>
          <a:p>
            <a:pPr marL="0" indent="0">
              <a:buNone/>
            </a:pPr>
            <a:r>
              <a:rPr lang="en-GB" dirty="0"/>
              <a:t>	So, ((-a) + a + b) ≡ ((-a) + a + c)(mod n) </a:t>
            </a:r>
          </a:p>
          <a:p>
            <a:pPr marL="0" indent="0">
              <a:buNone/>
            </a:pPr>
            <a:r>
              <a:rPr lang="en-GB" dirty="0"/>
              <a:t>	Thus, b ≡ c (mod n)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329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15BCA-DEDD-7B0C-7ADF-C66728335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(Contd.)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56547A-CFDD-4ABB-ECF0-DDB6C879A1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5100963"/>
              </p:ext>
            </p:extLst>
          </p:nvPr>
        </p:nvGraphicFramePr>
        <p:xfrm>
          <a:off x="838200" y="1825625"/>
          <a:ext cx="105156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232818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94536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Expression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128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Commutative Laws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(w + x) mod n = (x + w) mod n </a:t>
                      </a:r>
                      <a:endParaRPr lang="en-GB" dirty="0"/>
                    </a:p>
                    <a:p>
                      <a:pPr algn="ctr"/>
                      <a:r>
                        <a:rPr lang="pl-PL" dirty="0"/>
                        <a:t>(w * x) mod n = (x * w) mod 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910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Associative Laws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[(w + x) + y] mod n = [w + (x + y)] mod n </a:t>
                      </a:r>
                      <a:endParaRPr lang="en-GB" dirty="0"/>
                    </a:p>
                    <a:p>
                      <a:pPr algn="ctr"/>
                      <a:r>
                        <a:rPr lang="pl-PL" dirty="0"/>
                        <a:t>[(w * x) * y] mod n = [w * (x * y)] mod 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806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Distributive 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[w * (x + y)] mod n = [(w * x) + (w * y)] mod 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762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Identities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(0 + w) mod n = w mod n </a:t>
                      </a:r>
                      <a:endParaRPr lang="en-GB" dirty="0"/>
                    </a:p>
                    <a:p>
                      <a:pPr algn="ctr"/>
                      <a:r>
                        <a:rPr lang="pl-PL" dirty="0"/>
                        <a:t>(1 * w) mod n = w mod 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26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Additive Inverse (-w)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For each w ∈ Z</a:t>
                      </a:r>
                      <a:r>
                        <a:rPr lang="en-GB" baseline="-25000" dirty="0"/>
                        <a:t>n</a:t>
                      </a:r>
                      <a:r>
                        <a:rPr lang="en-GB" dirty="0"/>
                        <a:t>, there exists a z such that w + z ≡ 0 mod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644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07437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15BCA-DEDD-7B0C-7ADF-C66728335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(Contd.)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1F73E2-D2B6-FAEE-4F05-DA4FF2576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(a * b) ≡ (a * c)(mod n) then b ≡ c(mod n) if </a:t>
            </a:r>
            <a:r>
              <a:rPr lang="en-GB" dirty="0">
                <a:solidFill>
                  <a:srgbClr val="FF0000"/>
                </a:solidFill>
              </a:rPr>
              <a:t>a is relatively prime to n</a:t>
            </a:r>
          </a:p>
        </p:txBody>
      </p:sp>
    </p:spTree>
    <p:extLst>
      <p:ext uri="{BB962C8B-B14F-4D97-AF65-F5344CB8AC3E}">
        <p14:creationId xmlns:p14="http://schemas.microsoft.com/office/powerpoint/2010/main" val="32567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15BCA-DEDD-7B0C-7ADF-C66728335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(Contd.)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1F73E2-D2B6-FAEE-4F05-DA4FF2576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96600" cy="4351338"/>
          </a:xfrm>
        </p:spPr>
        <p:txBody>
          <a:bodyPr/>
          <a:lstStyle/>
          <a:p>
            <a:r>
              <a:rPr lang="en-GB" dirty="0"/>
              <a:t>if (a * b) ≡ (a * c)(mod n) then b ≡ c(mod n) if </a:t>
            </a:r>
            <a:r>
              <a:rPr lang="en-GB" dirty="0">
                <a:solidFill>
                  <a:srgbClr val="FF0000"/>
                </a:solidFill>
              </a:rPr>
              <a:t>a is relatively prime to n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By the definition of congruence, a * b ≡ a * c mod  n means that:</a:t>
            </a:r>
          </a:p>
          <a:p>
            <a:pPr marL="0" indent="0">
              <a:buNone/>
            </a:pPr>
            <a:r>
              <a:rPr lang="en-GB" dirty="0"/>
              <a:t>	a * b − a * c ≡ 0 mod  n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This can be rewritten as:</a:t>
            </a:r>
          </a:p>
          <a:p>
            <a:pPr marL="0" indent="0">
              <a:buNone/>
            </a:pPr>
            <a:r>
              <a:rPr lang="en-GB" dirty="0"/>
              <a:t>	a * (b−c) ≡ 0 mod  n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This implies that a * (b−c) is divisible by n, i.e., n divides a * (b−c)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6178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15BCA-DEDD-7B0C-7ADF-C66728335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(Contd.)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1F73E2-D2B6-FAEE-4F05-DA4FF2576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96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This implies that a * (b−c) is divisible by n, i.e., n divides a * (b−c)</a:t>
            </a:r>
          </a:p>
          <a:p>
            <a:pPr marL="0" indent="0">
              <a:buNone/>
            </a:pPr>
            <a:endParaRPr lang="en-GB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dirty="0"/>
              <a:t>Since, a and n are relatively prime ( </a:t>
            </a:r>
            <a:r>
              <a:rPr lang="en-GB" dirty="0" err="1"/>
              <a:t>gcd</a:t>
            </a:r>
            <a:r>
              <a:rPr lang="en-GB" dirty="0"/>
              <a:t>(a, n) = 1 ), n must also divide (b – c)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 other words:</a:t>
            </a:r>
          </a:p>
          <a:p>
            <a:pPr marL="0" indent="0">
              <a:buNone/>
            </a:pPr>
            <a:r>
              <a:rPr lang="en-GB" dirty="0"/>
              <a:t>	b − c ≡ 0 mod  n </a:t>
            </a:r>
          </a:p>
          <a:p>
            <a:pPr marL="0" indent="0">
              <a:buNone/>
            </a:pPr>
            <a:r>
              <a:rPr lang="en-GB" dirty="0"/>
              <a:t>This implies:</a:t>
            </a:r>
          </a:p>
          <a:p>
            <a:pPr marL="0" indent="0">
              <a:buNone/>
            </a:pPr>
            <a:r>
              <a:rPr lang="en-GB" dirty="0"/>
              <a:t>	b ≡ c </a:t>
            </a:r>
            <a:r>
              <a:rPr lang="en-GB"/>
              <a:t>mod  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81865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1D22A-42C5-1FC4-2D70-F7D4816B2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A10A5-00AD-D45E-FB7B-AB648AB3B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each of the following equations, find an integer x that satisfies the equation.</a:t>
            </a:r>
          </a:p>
          <a:p>
            <a:pPr marL="914400" lvl="1" indent="-457200">
              <a:buAutoNum type="arabicPeriod"/>
            </a:pPr>
            <a:r>
              <a:rPr lang="en-GB" dirty="0"/>
              <a:t>5x ≡ 4 ( mod 3)</a:t>
            </a:r>
          </a:p>
          <a:p>
            <a:pPr marL="914400" lvl="1" indent="-457200">
              <a:buAutoNum type="arabicPeriod"/>
            </a:pPr>
            <a:r>
              <a:rPr lang="en-GB" dirty="0"/>
              <a:t>7x ≡ 6 ( mod 5)</a:t>
            </a:r>
          </a:p>
          <a:p>
            <a:pPr marL="914400" lvl="1" indent="-457200">
              <a:buAutoNum type="arabicPeriod"/>
            </a:pPr>
            <a:r>
              <a:rPr lang="en-GB" dirty="0"/>
              <a:t>9x ≡ 8 ( mod 7)</a:t>
            </a:r>
          </a:p>
          <a:p>
            <a:pPr lvl="1"/>
            <a:endParaRPr lang="en-GB" dirty="0"/>
          </a:p>
          <a:p>
            <a:r>
              <a:rPr lang="en-GB" dirty="0"/>
              <a:t>Show that an integer N is congruent modulo 9 to the sum of its decimal digits. For example, 475 = 4 + 7 + 5 = 16 = 1 + 6 = 7 (mod 9). This is the basis for the familiar procedure of “casting out 9’s” when checking computations in arithmetic.</a:t>
            </a:r>
          </a:p>
        </p:txBody>
      </p:sp>
    </p:spTree>
    <p:extLst>
      <p:ext uri="{BB962C8B-B14F-4D97-AF65-F5344CB8AC3E}">
        <p14:creationId xmlns:p14="http://schemas.microsoft.com/office/powerpoint/2010/main" val="18203678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1D22A-42C5-1FC4-2D70-F7D4816B2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A10A5-00AD-D45E-FB7B-AB648AB3B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Determine </a:t>
            </a:r>
            <a:r>
              <a:rPr lang="en-GB" dirty="0" err="1"/>
              <a:t>gcd</a:t>
            </a:r>
            <a:r>
              <a:rPr lang="en-GB" dirty="0"/>
              <a:t>(24140, 16762) using prime factors method and Euclid’s algorithm. </a:t>
            </a:r>
          </a:p>
          <a:p>
            <a:endParaRPr lang="en-GB" dirty="0"/>
          </a:p>
          <a:p>
            <a:r>
              <a:rPr lang="en-GB" dirty="0"/>
              <a:t>Determine </a:t>
            </a:r>
            <a:r>
              <a:rPr lang="en-GB" dirty="0" err="1"/>
              <a:t>gcd</a:t>
            </a:r>
            <a:r>
              <a:rPr lang="en-GB" dirty="0"/>
              <a:t>(4655, 12075) using prime factors method and Euclid’s algorithm. 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17417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BB8C3-677E-946E-3EA3-9C4CBA474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 of Modular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D9BB3-97A5-87C2-9433-042071611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6575"/>
            <a:ext cx="10515600" cy="4351338"/>
          </a:xfrm>
        </p:spPr>
        <p:txBody>
          <a:bodyPr/>
          <a:lstStyle/>
          <a:p>
            <a:r>
              <a:rPr lang="en-GB" dirty="0">
                <a:hlinkClick r:id="rId2"/>
              </a:rPr>
              <a:t>https://www.youtube.com/watch?v=Pq8gNbvfaoM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03894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A212CF-1CC4-69FA-3C2A-480C84561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Groups, Rings, and Fields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15A3B7-AEBB-85C5-0817-143D6A5F6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911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475060-69E8-9A45-CED9-04218F4CB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41F1B0-A542-B2D9-4BC4-93DD340B8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Groups, rings, and fields are the fundamental elements of a branch of mathematics known as abstract algebra, or modern algebra. </a:t>
            </a:r>
          </a:p>
          <a:p>
            <a:endParaRPr lang="en-GB" dirty="0"/>
          </a:p>
          <a:p>
            <a:r>
              <a:rPr lang="en-GB" dirty="0"/>
              <a:t>In abstract algebra, we are concerned with sets on whose elements we can operate algebraically; that is, we can combine two elements of the set, perhaps in several ways, to obtain a third element of the set.</a:t>
            </a:r>
          </a:p>
        </p:txBody>
      </p:sp>
    </p:spTree>
    <p:extLst>
      <p:ext uri="{BB962C8B-B14F-4D97-AF65-F5344CB8AC3E}">
        <p14:creationId xmlns:p14="http://schemas.microsoft.com/office/powerpoint/2010/main" val="38440346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26C68-6391-7387-D54D-1BA8C098F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07F59-3361-B901-7DF6-489B8B22A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 group G, sometimes denoted by {G, .}, is a set of elements with a binary operation denoted by . that associates to each ordered pair (a, b) of elements in G an element (</a:t>
            </a:r>
            <a:r>
              <a:rPr lang="en-GB" dirty="0" err="1"/>
              <a:t>a.b</a:t>
            </a:r>
            <a:r>
              <a:rPr lang="en-GB" dirty="0"/>
              <a:t>) in G, such that the following axioms are obeyed:</a:t>
            </a:r>
          </a:p>
          <a:p>
            <a:pPr marL="0" indent="0">
              <a:buNone/>
            </a:pPr>
            <a:r>
              <a:rPr lang="en-GB" dirty="0"/>
              <a:t>(A1) Closure: If a and b belong to G, then </a:t>
            </a:r>
            <a:r>
              <a:rPr lang="en-GB" dirty="0" err="1"/>
              <a:t>a.b</a:t>
            </a:r>
            <a:r>
              <a:rPr lang="en-GB" dirty="0"/>
              <a:t> is also in G. </a:t>
            </a:r>
          </a:p>
          <a:p>
            <a:pPr marL="0" indent="0">
              <a:buNone/>
            </a:pPr>
            <a:r>
              <a:rPr lang="en-GB" dirty="0"/>
              <a:t>(A2) Associative: a . (b . c) = (a . b) . c for all a, b, c in G.</a:t>
            </a:r>
          </a:p>
          <a:p>
            <a:pPr marL="0" indent="0">
              <a:buNone/>
            </a:pPr>
            <a:r>
              <a:rPr lang="en-GB" dirty="0"/>
              <a:t>(A3) Identity element: There is an element e in G such that </a:t>
            </a:r>
            <a:r>
              <a:rPr lang="en-GB" dirty="0" err="1"/>
              <a:t>a.e</a:t>
            </a:r>
            <a:r>
              <a:rPr lang="en-GB" dirty="0"/>
              <a:t> = </a:t>
            </a:r>
            <a:r>
              <a:rPr lang="en-GB" dirty="0" err="1"/>
              <a:t>e.a</a:t>
            </a:r>
            <a:r>
              <a:rPr lang="en-GB" dirty="0"/>
              <a:t> for all a in G. </a:t>
            </a:r>
          </a:p>
          <a:p>
            <a:pPr marL="0" indent="0">
              <a:buNone/>
            </a:pPr>
            <a:r>
              <a:rPr lang="en-GB" dirty="0"/>
              <a:t>(A4) Inverse element: For each a in G, there is an element a’ in G such that </a:t>
            </a:r>
            <a:r>
              <a:rPr lang="en-GB" dirty="0" err="1"/>
              <a:t>a.a</a:t>
            </a:r>
            <a:r>
              <a:rPr lang="en-GB" dirty="0"/>
              <a:t>’ = </a:t>
            </a:r>
            <a:r>
              <a:rPr lang="en-GB" dirty="0" err="1"/>
              <a:t>a’.a</a:t>
            </a:r>
            <a:r>
              <a:rPr lang="en-GB" dirty="0"/>
              <a:t> = e.</a:t>
            </a:r>
          </a:p>
        </p:txBody>
      </p:sp>
    </p:spTree>
    <p:extLst>
      <p:ext uri="{BB962C8B-B14F-4D97-AF65-F5344CB8AC3E}">
        <p14:creationId xmlns:p14="http://schemas.microsoft.com/office/powerpoint/2010/main" val="26829417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C1EFA-00B7-CD50-68BD-3B5122046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07009-8D5D-0526-BB9D-388355FCF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b="0" i="0" dirty="0">
                <a:solidFill>
                  <a:srgbClr val="FF0000"/>
                </a:solidFill>
                <a:effectLst/>
                <a:latin typeface="inter-regular"/>
              </a:rPr>
              <a:t>The group G = {0, 1, 2, 3, 4, 5, 6, 7} under addition modulo 8 is a finite group.</a:t>
            </a:r>
          </a:p>
          <a:p>
            <a:r>
              <a:rPr lang="en-GB" b="1" dirty="0"/>
              <a:t>Closure</a:t>
            </a:r>
            <a:r>
              <a:rPr lang="en-GB" dirty="0"/>
              <a:t>: For any 𝑎,𝑏 ∈ 𝐺, the result of (𝑎+𝑏) mod  8 is also an element of 𝐺. Example: 3 + 5 = 8, and 8 mod  8 = 0, which is in 𝐺.</a:t>
            </a:r>
          </a:p>
          <a:p>
            <a:r>
              <a:rPr lang="en-GB" b="1" dirty="0"/>
              <a:t>Associativity</a:t>
            </a:r>
            <a:r>
              <a:rPr lang="en-GB" dirty="0"/>
              <a:t>: Addition modulo 8 is associative, meaning that for any 𝑎,𝑏,𝑐 ∈ 𝐺, (𝑎 + (𝑏 + 𝑐)) mod  8=((𝑎 + 𝑏) + 𝑐) mod  8. This holds true because addition is naturally associative, and taking modulo does not affect this property.</a:t>
            </a:r>
          </a:p>
          <a:p>
            <a:r>
              <a:rPr lang="en-GB" b="1" dirty="0"/>
              <a:t>Identity Element</a:t>
            </a:r>
            <a:r>
              <a:rPr lang="en-GB" dirty="0"/>
              <a:t>: The identity element in a group is the element that, when combined with any other element, leaves the other element unchanged. In this group, 0 is the identity element because for any 𝑎 ∈ 𝐺, (𝑎 + 0) mod  8 = 𝑎.</a:t>
            </a:r>
          </a:p>
          <a:p>
            <a:r>
              <a:rPr lang="en-GB" b="1" dirty="0"/>
              <a:t>Inverse Element</a:t>
            </a:r>
            <a:r>
              <a:rPr lang="en-GB" dirty="0"/>
              <a:t>: For every element 𝑎 ∈ 𝐺, there exists an element 𝑏 ∈ 𝐺 such that (𝑎 + 𝑏) mod  8=0 (the identity element). For example: The inverse of 0 is 0 because (0 + 0) mod  8 = 0.</a:t>
            </a:r>
          </a:p>
        </p:txBody>
      </p:sp>
    </p:spTree>
    <p:extLst>
      <p:ext uri="{BB962C8B-B14F-4D97-AF65-F5344CB8AC3E}">
        <p14:creationId xmlns:p14="http://schemas.microsoft.com/office/powerpoint/2010/main" val="37387487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D6912-16BC-8F8E-C2C8-C2153080F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ECFF6-BBE2-659D-D70C-CCFECBBC7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>
                <a:solidFill>
                  <a:srgbClr val="FF0000"/>
                </a:solidFill>
              </a:rPr>
              <a:t>Integers under Addition (Z, +)</a:t>
            </a:r>
          </a:p>
          <a:p>
            <a:r>
              <a:rPr lang="en-GB" b="1" dirty="0"/>
              <a:t>Closure</a:t>
            </a:r>
            <a:r>
              <a:rPr lang="en-GB" dirty="0"/>
              <a:t>: For any two integers 𝑎,𝑏 ∈ 𝑍, their sum 𝑎+𝑏 is also an integer. This means 𝑍 is closed under addition. Example: 3 + (−5) = −2, and −2 is an integer.</a:t>
            </a:r>
          </a:p>
          <a:p>
            <a:r>
              <a:rPr lang="en-GB" b="1" dirty="0"/>
              <a:t>Associativity</a:t>
            </a:r>
            <a:r>
              <a:rPr lang="en-GB" dirty="0"/>
              <a:t>: Addition is associative, meaning that for any 𝑎,𝑏,𝑐 ∈ 𝑍, 𝑎 + (𝑏 + 𝑐) = (𝑎 + 𝑏) + 𝑐. Example: 1 + (2 + 3) = 1 + 5 = 6 and (1 + 2) + 3 = 3 + 3 = 6.</a:t>
            </a:r>
          </a:p>
          <a:p>
            <a:r>
              <a:rPr lang="en-GB" b="1" dirty="0"/>
              <a:t>Identity Element</a:t>
            </a:r>
            <a:r>
              <a:rPr lang="en-GB" dirty="0"/>
              <a:t>: The identity element in (𝑍,+) is 0, because for any 𝑎 ∈ 𝑍, 𝑎 + 0 = 0 + 𝑎 = 𝑎. Example: 4 + 0 = 4 and −7 + 0 = −7.</a:t>
            </a:r>
          </a:p>
          <a:p>
            <a:r>
              <a:rPr lang="en-GB" b="1" dirty="0"/>
              <a:t>Inverse Element</a:t>
            </a:r>
            <a:r>
              <a:rPr lang="en-GB" dirty="0"/>
              <a:t>: For each integer 𝑎 ∈ 𝑍, there exists an inverse element −𝑎 such that 𝑎 + (−𝑎) = 0, where 0 is the identity element. Example: The inverse of 5 is −5 because 5 + (−5) = 0.</a:t>
            </a:r>
          </a:p>
        </p:txBody>
      </p:sp>
    </p:spTree>
    <p:extLst>
      <p:ext uri="{BB962C8B-B14F-4D97-AF65-F5344CB8AC3E}">
        <p14:creationId xmlns:p14="http://schemas.microsoft.com/office/powerpoint/2010/main" val="11460215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4817E-87EC-4DC6-6636-D9FA45693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EE244-E02F-44B5-D232-2492BBAED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>
                <a:solidFill>
                  <a:srgbClr val="FF0000"/>
                </a:solidFill>
              </a:rPr>
              <a:t>Non-Zero Real Numbers under Multiplication (R, ⋅)</a:t>
            </a:r>
          </a:p>
          <a:p>
            <a:r>
              <a:rPr lang="en-GB" b="1" dirty="0"/>
              <a:t>Closure: </a:t>
            </a:r>
            <a:r>
              <a:rPr lang="en-GB" dirty="0"/>
              <a:t>For any two non-zero real numbers </a:t>
            </a:r>
            <a:r>
              <a:rPr lang="en-GB" dirty="0" err="1"/>
              <a:t>a,b</a:t>
            </a:r>
            <a:r>
              <a:rPr lang="en-GB" dirty="0"/>
              <a:t> ∈ R, their product </a:t>
            </a:r>
            <a:r>
              <a:rPr lang="en-GB" dirty="0" err="1"/>
              <a:t>a⋅b</a:t>
            </a:r>
            <a:r>
              <a:rPr lang="en-GB" dirty="0"/>
              <a:t> is also a non-zero real number. Therefore, R is closed under multiplication.</a:t>
            </a:r>
          </a:p>
          <a:p>
            <a:pPr lvl="1"/>
            <a:r>
              <a:rPr lang="en-GB" dirty="0"/>
              <a:t>Example: 2 ⋅ 3 = 6 and 6 is a non-zero real number.</a:t>
            </a:r>
          </a:p>
          <a:p>
            <a:r>
              <a:rPr lang="en-GB" b="1" dirty="0"/>
              <a:t>Associativity: </a:t>
            </a:r>
            <a:r>
              <a:rPr lang="en-GB" dirty="0"/>
              <a:t>Multiplication is associative, meaning that for any </a:t>
            </a:r>
            <a:r>
              <a:rPr lang="en-GB" dirty="0" err="1"/>
              <a:t>a,b,c</a:t>
            </a:r>
            <a:r>
              <a:rPr lang="en-GB" dirty="0"/>
              <a:t> ∈ R, a ⋅ (b ⋅ c) = (a ⋅ b) ⋅ c.</a:t>
            </a:r>
          </a:p>
          <a:p>
            <a:pPr lvl="1"/>
            <a:r>
              <a:rPr lang="en-GB" dirty="0"/>
              <a:t>Example: 2 ⋅ (3 ⋅ 4) = 2 ⋅ 12 = 24 and (2 ⋅ 3) ⋅ 4 = 6 ⋅ 4 = 24.</a:t>
            </a:r>
          </a:p>
          <a:p>
            <a:r>
              <a:rPr lang="en-GB" b="1" dirty="0"/>
              <a:t>Identity Element: </a:t>
            </a:r>
            <a:r>
              <a:rPr lang="en-GB" dirty="0"/>
              <a:t>The identity element in (R,⋅) is 1, because for any a ∈ R, a ⋅ 1 = 1 ⋅ a = a.</a:t>
            </a:r>
          </a:p>
          <a:p>
            <a:pPr lvl="1"/>
            <a:r>
              <a:rPr lang="en-GB" dirty="0"/>
              <a:t>Example: 7 ⋅ 1 = 7.</a:t>
            </a:r>
          </a:p>
          <a:p>
            <a:r>
              <a:rPr lang="en-GB" b="1" dirty="0"/>
              <a:t>Inverse Element: </a:t>
            </a:r>
            <a:r>
              <a:rPr lang="en-GB" dirty="0"/>
              <a:t>For each non-zero real number a ∈ R, there exists an inverse element 1\a, where a.(1\a) = (1\a).a = 1 is the identity element.</a:t>
            </a:r>
          </a:p>
        </p:txBody>
      </p:sp>
    </p:spTree>
    <p:extLst>
      <p:ext uri="{BB962C8B-B14F-4D97-AF65-F5344CB8AC3E}">
        <p14:creationId xmlns:p14="http://schemas.microsoft.com/office/powerpoint/2010/main" val="28778752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8C622-D48A-DFDC-FCA2-D8FB6CD8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Finite vs Infinite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CE180-C399-1E39-730D-CA5EEEBAA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a group has a finite number of elements, it is referred to as a finite group, and the order of the group is equal to the number of elements in the group.</a:t>
            </a:r>
          </a:p>
          <a:p>
            <a:r>
              <a:rPr lang="en-GB" dirty="0"/>
              <a:t>Otherwise, the group is an infinite group.</a:t>
            </a:r>
          </a:p>
        </p:txBody>
      </p:sp>
    </p:spTree>
    <p:extLst>
      <p:ext uri="{BB962C8B-B14F-4D97-AF65-F5344CB8AC3E}">
        <p14:creationId xmlns:p14="http://schemas.microsoft.com/office/powerpoint/2010/main" val="35237225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8C622-D48A-DFDC-FCA2-D8FB6CD8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Abelian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CE180-C399-1E39-730D-CA5EEEBAA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group is said to be abelian if it satisfies the following additional condition:</a:t>
            </a:r>
          </a:p>
          <a:p>
            <a:pPr marL="0" indent="0">
              <a:buNone/>
            </a:pPr>
            <a:r>
              <a:rPr lang="en-GB" dirty="0"/>
              <a:t>(A5) Commutative: a . b = b . a for all a, b in G.</a:t>
            </a:r>
          </a:p>
        </p:txBody>
      </p:sp>
    </p:spTree>
    <p:extLst>
      <p:ext uri="{BB962C8B-B14F-4D97-AF65-F5344CB8AC3E}">
        <p14:creationId xmlns:p14="http://schemas.microsoft.com/office/powerpoint/2010/main" val="11705970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FE713-465C-77B9-F63B-5889C1EE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Cyclic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BC029-2869-095A-6BE0-03AF4A955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group is cyclic if every element of is a power ( is an integer) of a fixed element . The element is said to generate the group or to be a generator of G. A cyclic group is always abelian and may be finite or infinite.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en-GB" dirty="0"/>
              <a:t>The additive group of integers is an infinite cyclic group generated by the element 1. In this case, powers are interpreted additively, so that is the nth power of 1.</a:t>
            </a:r>
          </a:p>
        </p:txBody>
      </p:sp>
    </p:spTree>
    <p:extLst>
      <p:ext uri="{BB962C8B-B14F-4D97-AF65-F5344CB8AC3E}">
        <p14:creationId xmlns:p14="http://schemas.microsoft.com/office/powerpoint/2010/main" val="38080742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AAAC7-1C3C-0F88-7C2A-220CF4A51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8BF57-65D0-4728-9BCB-F8EE3874F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Problem 1: Prove that in a group G, if (ab)² = a²b² for all a, b ∈ G, then G is abelian.</a:t>
            </a:r>
          </a:p>
          <a:p>
            <a:r>
              <a:rPr lang="en-GB" dirty="0"/>
              <a:t>Problem 2: Let G be a group and let a, b ∈ G. Prove that if ab = </a:t>
            </a:r>
            <a:r>
              <a:rPr lang="en-GB" dirty="0" err="1"/>
              <a:t>ba</a:t>
            </a:r>
            <a:r>
              <a:rPr lang="en-GB" dirty="0"/>
              <a:t>, then (ab)ⁿ = aⁿbⁿ for all n ∈ Z.</a:t>
            </a:r>
          </a:p>
        </p:txBody>
      </p:sp>
    </p:spTree>
    <p:extLst>
      <p:ext uri="{BB962C8B-B14F-4D97-AF65-F5344CB8AC3E}">
        <p14:creationId xmlns:p14="http://schemas.microsoft.com/office/powerpoint/2010/main" val="1058542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AAAC7-1C3C-0F88-7C2A-220CF4A51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8BF57-65D0-4728-9BCB-F8EE3874F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Problem 1: Prove that in a group G, if (ab)² = a²b² for all a, b ∈ G, then G is abelian.</a:t>
            </a:r>
          </a:p>
          <a:p>
            <a:pPr marL="0" indent="0">
              <a:buNone/>
            </a:pPr>
            <a:r>
              <a:rPr lang="en-GB" dirty="0"/>
              <a:t>(ab)(ab)=a</a:t>
            </a:r>
            <a:r>
              <a:rPr lang="en-GB" baseline="30000" dirty="0"/>
              <a:t>2</a:t>
            </a:r>
            <a:r>
              <a:rPr lang="en-GB" dirty="0"/>
              <a:t>b</a:t>
            </a:r>
            <a:r>
              <a:rPr lang="en-GB" baseline="30000" dirty="0"/>
              <a:t>2</a:t>
            </a:r>
          </a:p>
          <a:p>
            <a:pPr marL="0" indent="0">
              <a:buNone/>
            </a:pPr>
            <a:r>
              <a:rPr lang="en-GB" dirty="0"/>
              <a:t>(ab)(ab)=</a:t>
            </a:r>
            <a:r>
              <a:rPr lang="en-GB" dirty="0" err="1"/>
              <a:t>aabb</a:t>
            </a:r>
            <a:endParaRPr lang="en-GB" baseline="30000" dirty="0"/>
          </a:p>
          <a:p>
            <a:pPr marL="0" indent="0">
              <a:buNone/>
            </a:pPr>
            <a:endParaRPr lang="en-GB" baseline="30000" dirty="0"/>
          </a:p>
        </p:txBody>
      </p:sp>
    </p:spTree>
    <p:extLst>
      <p:ext uri="{BB962C8B-B14F-4D97-AF65-F5344CB8AC3E}">
        <p14:creationId xmlns:p14="http://schemas.microsoft.com/office/powerpoint/2010/main" val="21829022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65046-A4E1-2E1E-AFA3-B3DC29218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8149F-49DE-6518-DA46-F3EF78B58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 ring R, sometimes denoted by {R, +, *}, is a set of elements with two binary operations, called addition and multiplication, such that for all a, b, c in R the following axioms are obeyed: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(A1–A5) R is an abelian group with respect to addition; that is, R satisfies axioms A1 through A5. For the case of an additive group, we denote the identity element as 0 and the inverse of a as – a. </a:t>
            </a:r>
          </a:p>
          <a:p>
            <a:pPr marL="0" indent="0">
              <a:buNone/>
            </a:pPr>
            <a:r>
              <a:rPr lang="en-GB" dirty="0"/>
              <a:t>(M1) Closure under multiplication: If a and b belong to R, then ab is also in R. </a:t>
            </a:r>
          </a:p>
          <a:p>
            <a:pPr marL="0" indent="0">
              <a:buNone/>
            </a:pPr>
            <a:r>
              <a:rPr lang="en-GB" dirty="0"/>
              <a:t>(M2) Associativity of multiplication: a(</a:t>
            </a:r>
            <a:r>
              <a:rPr lang="en-GB" dirty="0" err="1"/>
              <a:t>bc</a:t>
            </a:r>
            <a:r>
              <a:rPr lang="en-GB" dirty="0"/>
              <a:t>) = (ab)c for all a, b, c in R.</a:t>
            </a:r>
          </a:p>
          <a:p>
            <a:pPr marL="0" indent="0">
              <a:buNone/>
            </a:pPr>
            <a:r>
              <a:rPr lang="en-GB" dirty="0"/>
              <a:t>(M3) Distributive laws: a(b + c) = ab + ac for all a, b, c in R.  </a:t>
            </a:r>
          </a:p>
          <a:p>
            <a:pPr marL="0" indent="0">
              <a:buNone/>
            </a:pPr>
            <a:r>
              <a:rPr lang="en-GB" dirty="0"/>
              <a:t>			      (a + b)c = ac + </a:t>
            </a:r>
            <a:r>
              <a:rPr lang="en-GB" dirty="0" err="1"/>
              <a:t>bc</a:t>
            </a:r>
            <a:r>
              <a:rPr lang="en-GB" dirty="0"/>
              <a:t> for all a, b, c in R.</a:t>
            </a:r>
          </a:p>
        </p:txBody>
      </p:sp>
    </p:spTree>
    <p:extLst>
      <p:ext uri="{BB962C8B-B14F-4D97-AF65-F5344CB8AC3E}">
        <p14:creationId xmlns:p14="http://schemas.microsoft.com/office/powerpoint/2010/main" val="20298324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B286E-BCBA-3AE5-82DE-29B9C273B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Ring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FA1E3-74AD-057F-D305-BCDDA5584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 ring is said to be commutative if it satisfies the following additional condition:</a:t>
            </a:r>
          </a:p>
          <a:p>
            <a:pPr marL="0" indent="0">
              <a:buNone/>
            </a:pPr>
            <a:r>
              <a:rPr lang="en-GB" dirty="0"/>
              <a:t>(M4) Commutativity of multiplication: ab = </a:t>
            </a:r>
            <a:r>
              <a:rPr lang="en-GB" dirty="0" err="1"/>
              <a:t>ba</a:t>
            </a:r>
            <a:r>
              <a:rPr lang="en-GB" dirty="0"/>
              <a:t> for all a, b in R.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We define an integral domain, which is a commutative ring that obeys the following axioms:</a:t>
            </a:r>
          </a:p>
          <a:p>
            <a:pPr marL="0" indent="0">
              <a:buNone/>
            </a:pPr>
            <a:r>
              <a:rPr lang="en-GB" dirty="0"/>
              <a:t>(M5) Multiplicative identity: There is an element 1 in such that a1 = 1a = a for all a in R.</a:t>
            </a:r>
          </a:p>
          <a:p>
            <a:pPr marL="0" indent="0">
              <a:buNone/>
            </a:pPr>
            <a:r>
              <a:rPr lang="en-GB" dirty="0"/>
              <a:t>(M6) No zero divisors: If a, b in R and ab = 0, then either a = 0 or b = 0.</a:t>
            </a:r>
          </a:p>
        </p:txBody>
      </p:sp>
    </p:spTree>
    <p:extLst>
      <p:ext uri="{BB962C8B-B14F-4D97-AF65-F5344CB8AC3E}">
        <p14:creationId xmlns:p14="http://schemas.microsoft.com/office/powerpoint/2010/main" val="1459249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9ED77-5A64-8747-E55A-ECE0EF4B8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A7E94-68FE-6E67-B354-82CE8D448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field F, sometimes denoted by {F, +, *}, is a set of elements with two binary operations, called addition and multiplication, such that for all a, b, c in F the following axioms are obeyed: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(A1–M6) is an integral domain; that is, satisfies axioms A1 through A5 and M1 through M6.</a:t>
            </a:r>
          </a:p>
          <a:p>
            <a:pPr marL="0" indent="0">
              <a:buNone/>
            </a:pPr>
            <a:r>
              <a:rPr lang="en-GB" dirty="0"/>
              <a:t>(M7) Multiplicative inverse: For each a in F, except 0, there is an element a</a:t>
            </a:r>
            <a:r>
              <a:rPr lang="en-GB" baseline="30000" dirty="0"/>
              <a:t>-1</a:t>
            </a:r>
            <a:r>
              <a:rPr lang="en-GB" dirty="0"/>
              <a:t> in F such that a(a</a:t>
            </a:r>
            <a:r>
              <a:rPr lang="en-GB" baseline="30000" dirty="0"/>
              <a:t>-1</a:t>
            </a:r>
            <a:r>
              <a:rPr lang="en-GB" dirty="0"/>
              <a:t>) = (a</a:t>
            </a:r>
            <a:r>
              <a:rPr lang="en-GB" baseline="30000" dirty="0"/>
              <a:t>-1</a:t>
            </a:r>
            <a:r>
              <a:rPr lang="en-GB" dirty="0"/>
              <a:t>)a = 1.</a:t>
            </a:r>
          </a:p>
        </p:txBody>
      </p:sp>
    </p:spTree>
    <p:extLst>
      <p:ext uri="{BB962C8B-B14F-4D97-AF65-F5344CB8AC3E}">
        <p14:creationId xmlns:p14="http://schemas.microsoft.com/office/powerpoint/2010/main" val="33121472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304FD-78D9-7201-3DD4-190DF477D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1DE3F-3596-79DB-85D5-3147449FF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325913-73A8-3A76-42DB-2F0375A9B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024" y="1825626"/>
            <a:ext cx="6991891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5928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34D29-E254-6A79-E955-1FC752477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6EFDE-EDCF-5ED7-5F6B-0709D3945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Does the set of residue classes ( mod 3 ) form a group</a:t>
            </a:r>
          </a:p>
          <a:p>
            <a:pPr marL="0" indent="0">
              <a:buNone/>
            </a:pPr>
            <a:r>
              <a:rPr lang="en-GB" dirty="0"/>
              <a:t>a. with respect to modular addition?</a:t>
            </a:r>
          </a:p>
          <a:p>
            <a:pPr marL="0" indent="0">
              <a:buNone/>
            </a:pPr>
            <a:r>
              <a:rPr lang="en-GB" dirty="0"/>
              <a:t>b. with respect to modular multiplication?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Consider the set S = {</a:t>
            </a:r>
            <a:r>
              <a:rPr lang="en-GB" dirty="0" err="1"/>
              <a:t>a,b</a:t>
            </a:r>
            <a:r>
              <a:rPr lang="en-GB" dirty="0"/>
              <a:t>} with addition and multiplication defined by the following tables. Is a ring? Justify your answer.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AE6223-0A0D-4473-2025-D7230FFF4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152771"/>
              </p:ext>
            </p:extLst>
          </p:nvPr>
        </p:nvGraphicFramePr>
        <p:xfrm>
          <a:off x="1441450" y="5199380"/>
          <a:ext cx="323532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442">
                  <a:extLst>
                    <a:ext uri="{9D8B030D-6E8A-4147-A177-3AD203B41FA5}">
                      <a16:colId xmlns:a16="http://schemas.microsoft.com/office/drawing/2014/main" val="3589678429"/>
                    </a:ext>
                  </a:extLst>
                </a:gridCol>
                <a:gridCol w="1078442">
                  <a:extLst>
                    <a:ext uri="{9D8B030D-6E8A-4147-A177-3AD203B41FA5}">
                      <a16:colId xmlns:a16="http://schemas.microsoft.com/office/drawing/2014/main" val="1678437390"/>
                    </a:ext>
                  </a:extLst>
                </a:gridCol>
                <a:gridCol w="1078442">
                  <a:extLst>
                    <a:ext uri="{9D8B030D-6E8A-4147-A177-3AD203B41FA5}">
                      <a16:colId xmlns:a16="http://schemas.microsoft.com/office/drawing/2014/main" val="1630230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656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119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1243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C86AC0-D9A4-9285-9C8D-8068719B2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165934"/>
              </p:ext>
            </p:extLst>
          </p:nvPr>
        </p:nvGraphicFramePr>
        <p:xfrm>
          <a:off x="7289800" y="5199380"/>
          <a:ext cx="323532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442">
                  <a:extLst>
                    <a:ext uri="{9D8B030D-6E8A-4147-A177-3AD203B41FA5}">
                      <a16:colId xmlns:a16="http://schemas.microsoft.com/office/drawing/2014/main" val="3589678429"/>
                    </a:ext>
                  </a:extLst>
                </a:gridCol>
                <a:gridCol w="1078442">
                  <a:extLst>
                    <a:ext uri="{9D8B030D-6E8A-4147-A177-3AD203B41FA5}">
                      <a16:colId xmlns:a16="http://schemas.microsoft.com/office/drawing/2014/main" val="1678437390"/>
                    </a:ext>
                  </a:extLst>
                </a:gridCol>
                <a:gridCol w="1078442">
                  <a:extLst>
                    <a:ext uri="{9D8B030D-6E8A-4147-A177-3AD203B41FA5}">
                      <a16:colId xmlns:a16="http://schemas.microsoft.com/office/drawing/2014/main" val="1630230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656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119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124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4067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F0869-C6E6-2B6D-558E-45C2EED3E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Discrete Logarithms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B911F8-FB12-1B3E-0FDC-F7C57FDB8F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Recall from Euler’s theorem that, for every a and n that are relatively prime,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		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GB" b="0" dirty="0">
                    <a:ea typeface="Cambria Math" panose="02040503050406030204" pitchFamily="18" charset="0"/>
                  </a:rPr>
                  <a:t> (example 2, 9)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GB" dirty="0"/>
                  <a:t>, Euler’s totient function, is the number of positive integers less than n and relatively prime to 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B911F8-FB12-1B3E-0FDC-F7C57FDB8F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61339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F411D-8CA6-4142-A961-DF994FA22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76BA1-C664-C816-AE44-B8262BC14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To see this last point, consider the powers of 7, modulo 19:</a:t>
            </a:r>
          </a:p>
          <a:p>
            <a:pPr marL="0" indent="0">
              <a:buNone/>
            </a:pPr>
            <a:r>
              <a:rPr lang="en-GB" dirty="0"/>
              <a:t>7</a:t>
            </a:r>
            <a:r>
              <a:rPr lang="en-GB" baseline="30000" dirty="0"/>
              <a:t>1</a:t>
            </a:r>
            <a:r>
              <a:rPr lang="en-GB" dirty="0"/>
              <a:t> = 7 (mod 19)</a:t>
            </a:r>
          </a:p>
          <a:p>
            <a:pPr marL="0" indent="0">
              <a:buNone/>
            </a:pPr>
            <a:r>
              <a:rPr lang="en-GB" dirty="0"/>
              <a:t>7</a:t>
            </a:r>
            <a:r>
              <a:rPr lang="en-GB" baseline="30000" dirty="0"/>
              <a:t>2</a:t>
            </a:r>
            <a:r>
              <a:rPr lang="en-GB" dirty="0"/>
              <a:t> = 49 = 2 * 19 + 11 = 11 (mod 19)</a:t>
            </a:r>
          </a:p>
          <a:p>
            <a:pPr marL="0" indent="0">
              <a:buNone/>
            </a:pPr>
            <a:r>
              <a:rPr lang="en-GB" dirty="0"/>
              <a:t>7</a:t>
            </a:r>
            <a:r>
              <a:rPr lang="en-GB" baseline="30000" dirty="0"/>
              <a:t>3</a:t>
            </a:r>
            <a:r>
              <a:rPr lang="en-GB" dirty="0"/>
              <a:t> = 343 = 18 * 19 + 1 = 1 (mod 19)</a:t>
            </a:r>
          </a:p>
          <a:p>
            <a:pPr marL="0" indent="0">
              <a:buNone/>
            </a:pPr>
            <a:r>
              <a:rPr lang="en-GB" dirty="0"/>
              <a:t>7</a:t>
            </a:r>
            <a:r>
              <a:rPr lang="en-GB" baseline="30000" dirty="0"/>
              <a:t>4</a:t>
            </a:r>
            <a:r>
              <a:rPr lang="en-GB" dirty="0"/>
              <a:t> = 2401 = 126 * 19 + 7 = 7 (mod 19)</a:t>
            </a:r>
          </a:p>
          <a:p>
            <a:pPr marL="0" indent="0">
              <a:buNone/>
            </a:pPr>
            <a:r>
              <a:rPr lang="en-GB" dirty="0"/>
              <a:t>7</a:t>
            </a:r>
            <a:r>
              <a:rPr lang="en-GB" baseline="30000" dirty="0"/>
              <a:t>5</a:t>
            </a:r>
            <a:r>
              <a:rPr lang="en-GB" dirty="0"/>
              <a:t> = 16807 = 884 * 19 + 11 = 11 (mod 19)</a:t>
            </a:r>
          </a:p>
        </p:txBody>
      </p:sp>
    </p:spTree>
    <p:extLst>
      <p:ext uri="{BB962C8B-B14F-4D97-AF65-F5344CB8AC3E}">
        <p14:creationId xmlns:p14="http://schemas.microsoft.com/office/powerpoint/2010/main" val="36055149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3B0B-5D9A-4713-2D86-79B58FD3C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 of Integers, Modulo 19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5A27A-0C31-F0D7-F52D-189748B5B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57F6B0-0B1C-1B5E-BAE7-6B430A6FA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62" y="1527444"/>
            <a:ext cx="7077075" cy="525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165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3B0B-5D9A-4713-2D86-79B58FD3C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 of Integers, Modulo 19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5A27A-0C31-F0D7-F52D-189748B5B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 of the sequences are of length 18. In this case, it is said that the base integer a generates (via powers) the set of non-zero integers modulo 19. Each such integer is called a primitive root of the modulus 19.</a:t>
            </a:r>
          </a:p>
          <a:p>
            <a:endParaRPr lang="en-GB" dirty="0"/>
          </a:p>
          <a:p>
            <a:r>
              <a:rPr lang="en-GB" dirty="0"/>
              <a:t>For the prime number 19, its primitive roots are 2, 3, 10, 13, 14, and 15.</a:t>
            </a:r>
          </a:p>
        </p:txBody>
      </p:sp>
    </p:spTree>
    <p:extLst>
      <p:ext uri="{BB962C8B-B14F-4D97-AF65-F5344CB8AC3E}">
        <p14:creationId xmlns:p14="http://schemas.microsoft.com/office/powerpoint/2010/main" val="32168737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8F55F-7487-C901-8572-92573182C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Logarithms for Modular Arithmetic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152D76-95BD-C939-FBEA-BEBD94B4B6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GB" dirty="0"/>
                  <a:t>The logarithm of a number is defined to be the power to which some positive base (except 1) must be raised in order to equal the number.</a:t>
                </a:r>
              </a:p>
              <a:p>
                <a:pPr marL="0" indent="0">
                  <a:buNone/>
                </a:pPr>
                <a:r>
                  <a:rPr lang="en-GB" dirty="0"/>
                  <a:t>		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func>
                      </m:sup>
                    </m:sSup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		</a:t>
                </a:r>
              </a:p>
              <a:p>
                <a:r>
                  <a:rPr lang="en-GB" dirty="0"/>
                  <a:t>The properties of logarithms include:	</a:t>
                </a:r>
                <a:r>
                  <a:rPr lang="en-GB" sz="1800" b="0" i="0" u="none" strike="noStrike" baseline="0" dirty="0">
                    <a:latin typeface="CoreTTI2k"/>
                  </a:rPr>
                  <a:t> 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b="0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𝑦𝑧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func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fName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.</m:t>
                        </m:r>
                        <m:func>
                          <m:func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fNam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func>
                      </m:e>
                    </m:func>
                  </m:oMath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152D76-95BD-C939-FBEA-BEBD94B4B6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11169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DA4FD-97E9-7CAC-398E-61918D683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Logarithms for Modular Arithmetic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CF0E43-C853-ADC6-E7E3-D33CF8C35F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Consider a primitive root a for some prime number. Then we know that the powers of a from 1 through (p - 1) produce each integer from 1 through (p - 1) exactly once.</a:t>
                </a:r>
              </a:p>
              <a:p>
                <a:r>
                  <a:rPr lang="en-GB" dirty="0"/>
                  <a:t>We also know that any integer b satisfies</a:t>
                </a:r>
              </a:p>
              <a:p>
                <a:pPr marL="0" indent="0">
                  <a:buNone/>
                </a:pPr>
                <a:r>
                  <a:rPr lang="en-GB" dirty="0"/>
                  <a:t>		 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≡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for some r,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≤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≤(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</a:t>
                </a:r>
              </a:p>
              <a:p>
                <a:pPr marL="0" indent="0">
                  <a:buNone/>
                </a:pPr>
                <a:r>
                  <a:rPr lang="en-GB" dirty="0"/>
                  <a:t>	by the definition of modular arithmetic. </a:t>
                </a:r>
              </a:p>
              <a:p>
                <a:r>
                  <a:rPr lang="en-GB" dirty="0"/>
                  <a:t>It follows that for any integer b and a primitive root a of prime number , we can find a unique exponent </a:t>
                </a:r>
                <a:r>
                  <a:rPr lang="en-GB" dirty="0" err="1"/>
                  <a:t>i</a:t>
                </a:r>
                <a:r>
                  <a:rPr lang="en-GB" dirty="0"/>
                  <a:t> such that</a:t>
                </a:r>
              </a:p>
              <a:p>
                <a:pPr marL="0" indent="0">
                  <a:buNone/>
                </a:pPr>
                <a:r>
                  <a:rPr lang="en-GB" dirty="0"/>
                  <a:t>	   	</a:t>
                </a:r>
                <a:r>
                  <a:rPr lang="en-GB" b="0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≡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≤(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CF0E43-C853-ADC6-E7E3-D33CF8C35F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812" b="-4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39923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DA4FD-97E9-7CAC-398E-61918D683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Logarithms for Modular Arithmetic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CF0E43-C853-ADC6-E7E3-D33CF8C35F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This exponent </a:t>
                </a:r>
                <a:r>
                  <a:rPr lang="en-GB" dirty="0" err="1"/>
                  <a:t>i</a:t>
                </a:r>
                <a:r>
                  <a:rPr lang="en-GB" dirty="0"/>
                  <a:t> is referred to as the discrete logarithm of the number b for the base a (mod p).</a:t>
                </a:r>
              </a:p>
              <a:p>
                <a:r>
                  <a:rPr lang="en-GB" dirty="0"/>
                  <a:t>We denote this value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𝑑𝑙𝑜𝑔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CF0E43-C853-ADC6-E7E3-D33CF8C35F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04365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93209-C280-6F64-7D8C-817807D43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E17D8-BF48-AAEE-C490-7B86BF3F9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3D904D-7238-01F8-FE74-DD8731BD8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732" y="1690688"/>
            <a:ext cx="6992536" cy="491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0930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953CC-07E3-7E78-C4BB-D3637EBFB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EB1AF2-19A8-A2BC-7A1E-1529AC1D9D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Given 2 as a primitive root of 29, construct a table of discrete logarithms, and use it to solve the following congruences.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17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≡10 (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29)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EB1AF2-19A8-A2BC-7A1E-1529AC1D9D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72107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A5DFF-F9BE-7E83-0CDA-AC40B1DC9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C0A0F75-00F7-711D-B3FB-D7147A44A4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8174168"/>
              </p:ext>
            </p:extLst>
          </p:nvPr>
        </p:nvGraphicFramePr>
        <p:xfrm>
          <a:off x="838200" y="1574800"/>
          <a:ext cx="4610100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5050">
                  <a:extLst>
                    <a:ext uri="{9D8B030D-6E8A-4147-A177-3AD203B41FA5}">
                      <a16:colId xmlns:a16="http://schemas.microsoft.com/office/drawing/2014/main" val="3705000394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631333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Logarithm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30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60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71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667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77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335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923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537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293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172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36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696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552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101380"/>
                  </a:ext>
                </a:extLst>
              </a:tr>
            </a:tbl>
          </a:graphicData>
        </a:graphic>
      </p:graphicFrame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5048A905-2BE8-27B9-D1E2-3E7CEE88FA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6061915"/>
              </p:ext>
            </p:extLst>
          </p:nvPr>
        </p:nvGraphicFramePr>
        <p:xfrm>
          <a:off x="5667375" y="1574800"/>
          <a:ext cx="4610100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5050">
                  <a:extLst>
                    <a:ext uri="{9D8B030D-6E8A-4147-A177-3AD203B41FA5}">
                      <a16:colId xmlns:a16="http://schemas.microsoft.com/office/drawing/2014/main" val="3705000394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631333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Logarithm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30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60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71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667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77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335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923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537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293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172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36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696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552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101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2684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A5DFF-F9BE-7E83-0CDA-AC40B1DC9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C0A0F75-00F7-711D-B3FB-D7147A44A4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8364806"/>
              </p:ext>
            </p:extLst>
          </p:nvPr>
        </p:nvGraphicFramePr>
        <p:xfrm>
          <a:off x="6667500" y="774700"/>
          <a:ext cx="46101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5050">
                  <a:extLst>
                    <a:ext uri="{9D8B030D-6E8A-4147-A177-3AD203B41FA5}">
                      <a16:colId xmlns:a16="http://schemas.microsoft.com/office/drawing/2014/main" val="3705000394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631333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Logarithm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30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60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71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6676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1E8D4B-D8F9-AB57-CA5C-CA5D27A85C1D}"/>
                  </a:ext>
                </a:extLst>
              </p:cNvPr>
              <p:cNvSpPr txBox="1"/>
              <p:nvPr/>
            </p:nvSpPr>
            <p:spPr>
              <a:xfrm>
                <a:off x="838200" y="1790700"/>
                <a:ext cx="5486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17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≡10 (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29)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1E8D4B-D8F9-AB57-CA5C-CA5D27A85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90700"/>
                <a:ext cx="548640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2133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4133</Words>
  <Application>Microsoft Office PowerPoint</Application>
  <PresentationFormat>Widescreen</PresentationFormat>
  <Paragraphs>354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Aptos</vt:lpstr>
      <vt:lpstr>Aptos Display</vt:lpstr>
      <vt:lpstr>Arial</vt:lpstr>
      <vt:lpstr>Cambria Math</vt:lpstr>
      <vt:lpstr>CoreTTI2k</vt:lpstr>
      <vt:lpstr>inter-regular</vt:lpstr>
      <vt:lpstr>Office Theme</vt:lpstr>
      <vt:lpstr>Unit – II Number Theory</vt:lpstr>
      <vt:lpstr>Content</vt:lpstr>
      <vt:lpstr>Divisibility and the Division Algorithm</vt:lpstr>
      <vt:lpstr>Properties</vt:lpstr>
      <vt:lpstr>Properties (Contd.)</vt:lpstr>
      <vt:lpstr>Example</vt:lpstr>
      <vt:lpstr>The Division Algorithm</vt:lpstr>
      <vt:lpstr>Example</vt:lpstr>
      <vt:lpstr>The Euclidean Algorithm</vt:lpstr>
      <vt:lpstr>Greatest Common Divisor</vt:lpstr>
      <vt:lpstr>Example</vt:lpstr>
      <vt:lpstr>Algorithm</vt:lpstr>
      <vt:lpstr>Algorithm (Contd.)</vt:lpstr>
      <vt:lpstr>Example</vt:lpstr>
      <vt:lpstr>Modular Arithmetic</vt:lpstr>
      <vt:lpstr>Properties of Congruences</vt:lpstr>
      <vt:lpstr>Modular Arithmetic</vt:lpstr>
      <vt:lpstr>Question</vt:lpstr>
      <vt:lpstr>Question</vt:lpstr>
      <vt:lpstr>Additive Inverse</vt:lpstr>
      <vt:lpstr>Multiplicative Inverse</vt:lpstr>
      <vt:lpstr>Properties</vt:lpstr>
      <vt:lpstr>Properties (Contd.)</vt:lpstr>
      <vt:lpstr>Properties (Contd.)</vt:lpstr>
      <vt:lpstr>Properties (Contd.)</vt:lpstr>
      <vt:lpstr>Properties (Contd.)</vt:lpstr>
      <vt:lpstr>Properties (Contd.)</vt:lpstr>
      <vt:lpstr>Properties (Contd.)</vt:lpstr>
      <vt:lpstr>Questions</vt:lpstr>
      <vt:lpstr>Questions (Contd.)</vt:lpstr>
      <vt:lpstr>Application of Modular Arithmetic</vt:lpstr>
      <vt:lpstr>Groups, Rings, and Fields</vt:lpstr>
      <vt:lpstr>Introduction</vt:lpstr>
      <vt:lpstr>Groups</vt:lpstr>
      <vt:lpstr>Example</vt:lpstr>
      <vt:lpstr>Problem</vt:lpstr>
      <vt:lpstr>Problem</vt:lpstr>
      <vt:lpstr>Finite vs Infinite</vt:lpstr>
      <vt:lpstr>Abelian Group</vt:lpstr>
      <vt:lpstr>Cyclic Group</vt:lpstr>
      <vt:lpstr>Problem</vt:lpstr>
      <vt:lpstr>Problem</vt:lpstr>
      <vt:lpstr>Rings</vt:lpstr>
      <vt:lpstr>Ring (Contd.)</vt:lpstr>
      <vt:lpstr>Fields</vt:lpstr>
      <vt:lpstr>Summary</vt:lpstr>
      <vt:lpstr>Problems</vt:lpstr>
      <vt:lpstr>Discrete Logarithms</vt:lpstr>
      <vt:lpstr>Example</vt:lpstr>
      <vt:lpstr>Power of Integers, Modulo 19</vt:lpstr>
      <vt:lpstr>Power of Integers, Modulo 19</vt:lpstr>
      <vt:lpstr>Logarithms for Modular Arithmetic</vt:lpstr>
      <vt:lpstr>Logarithms for Modular Arithmetic</vt:lpstr>
      <vt:lpstr>Logarithms for Modular Arithmetic</vt:lpstr>
      <vt:lpstr>Example</vt:lpstr>
      <vt:lpstr>Problem</vt:lpstr>
      <vt:lpstr>Solution</vt:lpstr>
      <vt:lpstr>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Nachiket Tapas</dc:creator>
  <cp:lastModifiedBy>Nachiket Tapas</cp:lastModifiedBy>
  <cp:revision>122</cp:revision>
  <dcterms:created xsi:type="dcterms:W3CDTF">2024-08-12T02:27:24Z</dcterms:created>
  <dcterms:modified xsi:type="dcterms:W3CDTF">2024-09-05T07:21:32Z</dcterms:modified>
</cp:coreProperties>
</file>