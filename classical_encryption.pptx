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856ED-EAE1-C0E4-6E78-6B3EAADC49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AF1115C-AA5A-710E-D1C7-1E8DC3825E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B67BA3C-5883-AC5D-8D38-AE748ECCE41C}"/>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5" name="Footer Placeholder 4">
            <a:extLst>
              <a:ext uri="{FF2B5EF4-FFF2-40B4-BE49-F238E27FC236}">
                <a16:creationId xmlns:a16="http://schemas.microsoft.com/office/drawing/2014/main" id="{58F791D6-1836-E43B-91CC-72B767E94B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9BE885-4FCA-D8F0-93ED-4E2B40848EC0}"/>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1749338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1608-8187-E10F-9DED-A2601C7679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9615EDC-1BEF-B86C-B502-A56536421A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2A3B76-1770-298E-EA65-95CF6EF64FDD}"/>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5" name="Footer Placeholder 4">
            <a:extLst>
              <a:ext uri="{FF2B5EF4-FFF2-40B4-BE49-F238E27FC236}">
                <a16:creationId xmlns:a16="http://schemas.microsoft.com/office/drawing/2014/main" id="{E96C59AE-37CA-248A-0F60-178E67D086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B2E62C-B6CD-47BD-E0B5-6C42F2FA029C}"/>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3863979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B6EA-8E1B-F3F1-664C-9557BF748B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7C51D5E-8E8C-66F6-4C7B-749E180E3E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A2DCC-A237-025B-BDFF-AA95DDC145E5}"/>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5" name="Footer Placeholder 4">
            <a:extLst>
              <a:ext uri="{FF2B5EF4-FFF2-40B4-BE49-F238E27FC236}">
                <a16:creationId xmlns:a16="http://schemas.microsoft.com/office/drawing/2014/main" id="{FC35DF57-69ED-BDA1-E6B0-D11F02C725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853C05-7543-44D5-38F3-D9D3FF440D6E}"/>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3267948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1F10A-DCCE-CB0D-C6BA-BF1FA124530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EAC1FF1-C969-B110-5BF8-4E263D11F5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7AC83E7-CE65-B0D9-38D3-2C87A8CC08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492926F-DF08-FC8E-7B4B-439C4A2FAEDB}"/>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6" name="Footer Placeholder 5">
            <a:extLst>
              <a:ext uri="{FF2B5EF4-FFF2-40B4-BE49-F238E27FC236}">
                <a16:creationId xmlns:a16="http://schemas.microsoft.com/office/drawing/2014/main" id="{F724C710-8C4B-2EC6-8834-A6957F26A6F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3B36D9-A5E1-52B3-7BF1-B12A635CD1BA}"/>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2715261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72215-E81A-E848-C753-7B4B8B5590A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BE4D35C-0431-3220-C49C-86D6FD3F2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30E395-B7C0-98D1-69DA-63E7317A21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F6FB375-393C-F205-DFE8-2923C4C7CC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5B62DE-EB67-8F11-6827-D3A5D75859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98057E7-88C7-EE68-BC70-2BE6D0018D5B}"/>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8" name="Footer Placeholder 7">
            <a:extLst>
              <a:ext uri="{FF2B5EF4-FFF2-40B4-BE49-F238E27FC236}">
                <a16:creationId xmlns:a16="http://schemas.microsoft.com/office/drawing/2014/main" id="{862F2753-C844-6FE9-C3C4-9E2A9EE09DC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8937EE2-E98F-6973-40D9-D589E6F6C2D8}"/>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2939839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8B9E-FB18-AC6E-8306-9A95C6EB6CE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2D7DF96-61ED-840C-EB5A-3A4AAE030E75}"/>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4" name="Footer Placeholder 3">
            <a:extLst>
              <a:ext uri="{FF2B5EF4-FFF2-40B4-BE49-F238E27FC236}">
                <a16:creationId xmlns:a16="http://schemas.microsoft.com/office/drawing/2014/main" id="{9CF36077-720C-4259-EC67-49AD5A66BFC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BC730A2-B90D-8A95-489C-53E13CEB779C}"/>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13828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73BDC7-F2A0-11CB-9002-485DDE4A70D5}"/>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3" name="Footer Placeholder 2">
            <a:extLst>
              <a:ext uri="{FF2B5EF4-FFF2-40B4-BE49-F238E27FC236}">
                <a16:creationId xmlns:a16="http://schemas.microsoft.com/office/drawing/2014/main" id="{C4BEED65-36F5-2DA4-C7D0-4E500743BBB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FD79198-F203-EA1E-F4EA-1CBCAECB9065}"/>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719076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B26F7-509E-B77D-9362-5F93F4F0E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5497AE9-6FA7-E6D3-2327-035B348580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9B2AD22-D191-FD86-36DC-5258BA42E3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D4B21B-26D7-DA52-BE25-F3DE3414F12C}"/>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6" name="Footer Placeholder 5">
            <a:extLst>
              <a:ext uri="{FF2B5EF4-FFF2-40B4-BE49-F238E27FC236}">
                <a16:creationId xmlns:a16="http://schemas.microsoft.com/office/drawing/2014/main" id="{89CF586E-B601-2E5E-B052-D9AEBC1BCC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E811B6-FC11-EBD2-5BD0-A292E7F0B7B5}"/>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197418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7E82-BD05-607B-4964-EDC372624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BFB07D1-F293-F811-54B4-460034FAB5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5986BFF-EBF9-36B2-C456-A1D08987C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924D3-0F71-362A-C028-AC43B2B757FB}"/>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6" name="Footer Placeholder 5">
            <a:extLst>
              <a:ext uri="{FF2B5EF4-FFF2-40B4-BE49-F238E27FC236}">
                <a16:creationId xmlns:a16="http://schemas.microsoft.com/office/drawing/2014/main" id="{F5771210-9DE5-325B-2E93-14A4A9BB3A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527DBC-E48D-419C-433F-DC914DD60ACE}"/>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4236221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220BC-F6E6-0284-E9C0-0BB8062D0E0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192415-FD97-1A93-0D1D-74397AD462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7DDF7FF-D719-97B4-ABA6-D5F251CD9153}"/>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5" name="Footer Placeholder 4">
            <a:extLst>
              <a:ext uri="{FF2B5EF4-FFF2-40B4-BE49-F238E27FC236}">
                <a16:creationId xmlns:a16="http://schemas.microsoft.com/office/drawing/2014/main" id="{FB512AB8-129B-DFCC-2980-525CDFBADF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5D0AE4-DB89-9D0C-F833-C6981AA3A0EE}"/>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86793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8C2E94-273D-BAF7-B4FC-6F4FB4D907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D63A67A-8723-422F-5A19-84C175126B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A17CE8-6A0F-CBF8-DD2C-E13CFA88B163}"/>
              </a:ext>
            </a:extLst>
          </p:cNvPr>
          <p:cNvSpPr>
            <a:spLocks noGrp="1"/>
          </p:cNvSpPr>
          <p:nvPr>
            <p:ph type="dt" sz="half" idx="10"/>
          </p:nvPr>
        </p:nvSpPr>
        <p:spPr/>
        <p:txBody>
          <a:bodyPr/>
          <a:lstStyle/>
          <a:p>
            <a:fld id="{7B12E077-DF70-42EB-A111-45051BEC12A0}" type="datetimeFigureOut">
              <a:rPr lang="en-GB" smtClean="0"/>
              <a:t>09/09/2024</a:t>
            </a:fld>
            <a:endParaRPr lang="en-GB"/>
          </a:p>
        </p:txBody>
      </p:sp>
      <p:sp>
        <p:nvSpPr>
          <p:cNvPr id="5" name="Footer Placeholder 4">
            <a:extLst>
              <a:ext uri="{FF2B5EF4-FFF2-40B4-BE49-F238E27FC236}">
                <a16:creationId xmlns:a16="http://schemas.microsoft.com/office/drawing/2014/main" id="{13E1CB3A-76A6-23A8-661E-C1038E5512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CEF2C1-1F77-A733-9B20-2B64F04A43DB}"/>
              </a:ext>
            </a:extLst>
          </p:cNvPr>
          <p:cNvSpPr>
            <a:spLocks noGrp="1"/>
          </p:cNvSpPr>
          <p:nvPr>
            <p:ph type="sldNum" sz="quarter" idx="12"/>
          </p:nvPr>
        </p:nvSpPr>
        <p:spPr/>
        <p:txBody>
          <a:bodyPr/>
          <a:lstStyle/>
          <a:p>
            <a:fld id="{AF5E5326-6903-487C-859A-51AFDF116F9F}" type="slidenum">
              <a:rPr lang="en-GB" smtClean="0"/>
              <a:t>‹#›</a:t>
            </a:fld>
            <a:endParaRPr lang="en-GB"/>
          </a:p>
        </p:txBody>
      </p:sp>
    </p:spTree>
    <p:extLst>
      <p:ext uri="{BB962C8B-B14F-4D97-AF65-F5344CB8AC3E}">
        <p14:creationId xmlns:p14="http://schemas.microsoft.com/office/powerpoint/2010/main" val="4151635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07D00E-5E14-96A2-15F2-B2C9D48F7C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14F8B6-1C66-B54B-71FD-A875D7D71F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07576E-5585-2A61-6E21-BD97DB635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12E077-DF70-42EB-A111-45051BEC12A0}" type="datetimeFigureOut">
              <a:rPr lang="en-GB" smtClean="0"/>
              <a:t>09/09/2024</a:t>
            </a:fld>
            <a:endParaRPr lang="en-GB"/>
          </a:p>
        </p:txBody>
      </p:sp>
      <p:sp>
        <p:nvSpPr>
          <p:cNvPr id="5" name="Footer Placeholder 4">
            <a:extLst>
              <a:ext uri="{FF2B5EF4-FFF2-40B4-BE49-F238E27FC236}">
                <a16:creationId xmlns:a16="http://schemas.microsoft.com/office/drawing/2014/main" id="{B0664C81-DA88-6E20-CF1B-62D0A40250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B8E6786-81CD-1D3D-5C56-F5B849E04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5E5326-6903-487C-859A-51AFDF116F9F}" type="slidenum">
              <a:rPr lang="en-GB" smtClean="0"/>
              <a:t>‹#›</a:t>
            </a:fld>
            <a:endParaRPr lang="en-GB"/>
          </a:p>
        </p:txBody>
      </p:sp>
    </p:spTree>
    <p:extLst>
      <p:ext uri="{BB962C8B-B14F-4D97-AF65-F5344CB8AC3E}">
        <p14:creationId xmlns:p14="http://schemas.microsoft.com/office/powerpoint/2010/main" val="3935504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code.fr/columnar-transposition-cipher" TargetMode="External"/><Relationship Id="rId2" Type="http://schemas.openxmlformats.org/officeDocument/2006/relationships/hyperlink" Target="https://www.cryptool.org/en/ct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FC79-FF48-CBCA-206D-5EAF3167153B}"/>
              </a:ext>
            </a:extLst>
          </p:cNvPr>
          <p:cNvSpPr>
            <a:spLocks noGrp="1"/>
          </p:cNvSpPr>
          <p:nvPr>
            <p:ph type="ctrTitle"/>
          </p:nvPr>
        </p:nvSpPr>
        <p:spPr/>
        <p:txBody>
          <a:bodyPr/>
          <a:lstStyle/>
          <a:p>
            <a:r>
              <a:rPr lang="en-GB" dirty="0"/>
              <a:t>Classical Encryption Techniques</a:t>
            </a:r>
          </a:p>
        </p:txBody>
      </p:sp>
      <p:sp>
        <p:nvSpPr>
          <p:cNvPr id="3" name="Subtitle 2">
            <a:extLst>
              <a:ext uri="{FF2B5EF4-FFF2-40B4-BE49-F238E27FC236}">
                <a16:creationId xmlns:a16="http://schemas.microsoft.com/office/drawing/2014/main" id="{629F249F-DB9C-B841-8586-6F87F910F7C1}"/>
              </a:ext>
            </a:extLst>
          </p:cNvPr>
          <p:cNvSpPr>
            <a:spLocks noGrp="1"/>
          </p:cNvSpPr>
          <p:nvPr>
            <p:ph type="subTitle" idx="1"/>
          </p:nvPr>
        </p:nvSpPr>
        <p:spPr/>
        <p:txBody>
          <a:bodyPr/>
          <a:lstStyle/>
          <a:p>
            <a:r>
              <a:rPr lang="en-GB" dirty="0" err="1"/>
              <a:t>Dr.</a:t>
            </a:r>
            <a:r>
              <a:rPr lang="en-GB" dirty="0"/>
              <a:t> Nachiket Tapas</a:t>
            </a:r>
          </a:p>
        </p:txBody>
      </p:sp>
    </p:spTree>
    <p:extLst>
      <p:ext uri="{BB962C8B-B14F-4D97-AF65-F5344CB8AC3E}">
        <p14:creationId xmlns:p14="http://schemas.microsoft.com/office/powerpoint/2010/main" val="3868856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35A62-11E1-BAD2-B88C-FF0DD55ED708}"/>
              </a:ext>
            </a:extLst>
          </p:cNvPr>
          <p:cNvSpPr>
            <a:spLocks noGrp="1"/>
          </p:cNvSpPr>
          <p:nvPr>
            <p:ph type="title"/>
          </p:nvPr>
        </p:nvSpPr>
        <p:spPr/>
        <p:txBody>
          <a:bodyPr/>
          <a:lstStyle/>
          <a:p>
            <a:r>
              <a:rPr lang="en-GB" dirty="0"/>
              <a:t>Content</a:t>
            </a:r>
          </a:p>
        </p:txBody>
      </p:sp>
      <p:sp>
        <p:nvSpPr>
          <p:cNvPr id="3" name="Content Placeholder 2">
            <a:extLst>
              <a:ext uri="{FF2B5EF4-FFF2-40B4-BE49-F238E27FC236}">
                <a16:creationId xmlns:a16="http://schemas.microsoft.com/office/drawing/2014/main" id="{CE1E9BE0-6E6A-F450-F6A7-3A8671F79C11}"/>
              </a:ext>
            </a:extLst>
          </p:cNvPr>
          <p:cNvSpPr>
            <a:spLocks noGrp="1"/>
          </p:cNvSpPr>
          <p:nvPr>
            <p:ph idx="1"/>
          </p:nvPr>
        </p:nvSpPr>
        <p:spPr/>
        <p:txBody>
          <a:bodyPr/>
          <a:lstStyle/>
          <a:p>
            <a:r>
              <a:rPr lang="en-GB" dirty="0"/>
              <a:t>Symmetric Cypher Model</a:t>
            </a:r>
          </a:p>
          <a:p>
            <a:r>
              <a:rPr lang="en-GB" dirty="0"/>
              <a:t>Steganography</a:t>
            </a:r>
          </a:p>
          <a:p>
            <a:r>
              <a:rPr lang="en-GB" dirty="0"/>
              <a:t>Limitations of Perfect Secrecy</a:t>
            </a:r>
          </a:p>
          <a:p>
            <a:r>
              <a:rPr lang="en-GB" dirty="0"/>
              <a:t>Shannon’s Theorem</a:t>
            </a:r>
          </a:p>
        </p:txBody>
      </p:sp>
    </p:spTree>
    <p:extLst>
      <p:ext uri="{BB962C8B-B14F-4D97-AF65-F5344CB8AC3E}">
        <p14:creationId xmlns:p14="http://schemas.microsoft.com/office/powerpoint/2010/main" val="31386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95D-0328-BDB3-620A-22B88FA2BA0A}"/>
              </a:ext>
            </a:extLst>
          </p:cNvPr>
          <p:cNvSpPr>
            <a:spLocks noGrp="1"/>
          </p:cNvSpPr>
          <p:nvPr>
            <p:ph type="title"/>
          </p:nvPr>
        </p:nvSpPr>
        <p:spPr/>
        <p:txBody>
          <a:bodyPr/>
          <a:lstStyle/>
          <a:p>
            <a:r>
              <a:rPr lang="en-GB" dirty="0"/>
              <a:t>Symmetric Cypher Model</a:t>
            </a:r>
          </a:p>
        </p:txBody>
      </p:sp>
      <p:sp>
        <p:nvSpPr>
          <p:cNvPr id="3" name="Content Placeholder 2">
            <a:extLst>
              <a:ext uri="{FF2B5EF4-FFF2-40B4-BE49-F238E27FC236}">
                <a16:creationId xmlns:a16="http://schemas.microsoft.com/office/drawing/2014/main" id="{7757339D-4EA3-CE81-0CE7-4B9F00925AE9}"/>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F56C705F-49E0-3BCC-291D-E4A5DA2F32FD}"/>
              </a:ext>
            </a:extLst>
          </p:cNvPr>
          <p:cNvPicPr>
            <a:picLocks noChangeAspect="1"/>
          </p:cNvPicPr>
          <p:nvPr/>
        </p:nvPicPr>
        <p:blipFill>
          <a:blip r:embed="rId2"/>
          <a:stretch>
            <a:fillRect/>
          </a:stretch>
        </p:blipFill>
        <p:spPr>
          <a:xfrm>
            <a:off x="2138488" y="2553424"/>
            <a:ext cx="7915023" cy="2895740"/>
          </a:xfrm>
          <a:prstGeom prst="rect">
            <a:avLst/>
          </a:prstGeom>
        </p:spPr>
      </p:pic>
    </p:spTree>
    <p:extLst>
      <p:ext uri="{BB962C8B-B14F-4D97-AF65-F5344CB8AC3E}">
        <p14:creationId xmlns:p14="http://schemas.microsoft.com/office/powerpoint/2010/main" val="2970397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95D-0328-BDB3-620A-22B88FA2BA0A}"/>
              </a:ext>
            </a:extLst>
          </p:cNvPr>
          <p:cNvSpPr>
            <a:spLocks noGrp="1"/>
          </p:cNvSpPr>
          <p:nvPr>
            <p:ph type="title"/>
          </p:nvPr>
        </p:nvSpPr>
        <p:spPr/>
        <p:txBody>
          <a:bodyPr/>
          <a:lstStyle/>
          <a:p>
            <a:r>
              <a:rPr lang="en-GB" dirty="0"/>
              <a:t>Symmetric Cypher Model</a:t>
            </a:r>
          </a:p>
        </p:txBody>
      </p:sp>
      <p:sp>
        <p:nvSpPr>
          <p:cNvPr id="3" name="Content Placeholder 2">
            <a:extLst>
              <a:ext uri="{FF2B5EF4-FFF2-40B4-BE49-F238E27FC236}">
                <a16:creationId xmlns:a16="http://schemas.microsoft.com/office/drawing/2014/main" id="{7757339D-4EA3-CE81-0CE7-4B9F00925AE9}"/>
              </a:ext>
            </a:extLst>
          </p:cNvPr>
          <p:cNvSpPr>
            <a:spLocks noGrp="1"/>
          </p:cNvSpPr>
          <p:nvPr>
            <p:ph idx="1"/>
          </p:nvPr>
        </p:nvSpPr>
        <p:spPr/>
        <p:txBody>
          <a:bodyPr>
            <a:normAutofit/>
          </a:bodyPr>
          <a:lstStyle/>
          <a:p>
            <a:r>
              <a:rPr lang="en-GB" dirty="0"/>
              <a:t>A symmetric encryption scheme has five ingredients:</a:t>
            </a:r>
          </a:p>
          <a:p>
            <a:pPr marL="0" indent="0">
              <a:buNone/>
            </a:pPr>
            <a:r>
              <a:rPr lang="en-GB" dirty="0"/>
              <a:t>1. </a:t>
            </a:r>
            <a:r>
              <a:rPr lang="en-GB" dirty="0">
                <a:solidFill>
                  <a:srgbClr val="FF0000"/>
                </a:solidFill>
              </a:rPr>
              <a:t>Plaintext</a:t>
            </a:r>
            <a:r>
              <a:rPr lang="en-GB" dirty="0"/>
              <a:t>: This is the original intelligible message or data that is fed into the algorithm as input.</a:t>
            </a:r>
          </a:p>
          <a:p>
            <a:pPr marL="0" indent="0">
              <a:buNone/>
            </a:pPr>
            <a:r>
              <a:rPr lang="en-GB" dirty="0"/>
              <a:t>2. </a:t>
            </a:r>
            <a:r>
              <a:rPr lang="en-GB" dirty="0">
                <a:solidFill>
                  <a:srgbClr val="FF0000"/>
                </a:solidFill>
              </a:rPr>
              <a:t>Encryption algorithm</a:t>
            </a:r>
            <a:r>
              <a:rPr lang="en-GB" dirty="0"/>
              <a:t>: The encryption algorithm performs various substitutions and transformations on the plaintext.</a:t>
            </a:r>
          </a:p>
          <a:p>
            <a:pPr marL="0" indent="0">
              <a:buNone/>
            </a:pPr>
            <a:r>
              <a:rPr lang="en-GB" dirty="0"/>
              <a:t>3. </a:t>
            </a:r>
            <a:r>
              <a:rPr lang="en-GB" dirty="0">
                <a:solidFill>
                  <a:srgbClr val="FF0000"/>
                </a:solidFill>
              </a:rPr>
              <a:t>Secret key</a:t>
            </a:r>
            <a:r>
              <a:rPr lang="en-GB" dirty="0"/>
              <a:t>: The secret key is also input to the encryption algorithm. The key is a value independent of the plaintext and of the algorithm. The algorithm will produce a different output depending on the specific key being used at the time. The exact substitutions and transformations performed by the algorithm depend on the key.</a:t>
            </a:r>
          </a:p>
        </p:txBody>
      </p:sp>
    </p:spTree>
    <p:extLst>
      <p:ext uri="{BB962C8B-B14F-4D97-AF65-F5344CB8AC3E}">
        <p14:creationId xmlns:p14="http://schemas.microsoft.com/office/powerpoint/2010/main" val="3927419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95D-0328-BDB3-620A-22B88FA2BA0A}"/>
              </a:ext>
            </a:extLst>
          </p:cNvPr>
          <p:cNvSpPr>
            <a:spLocks noGrp="1"/>
          </p:cNvSpPr>
          <p:nvPr>
            <p:ph type="title"/>
          </p:nvPr>
        </p:nvSpPr>
        <p:spPr/>
        <p:txBody>
          <a:bodyPr/>
          <a:lstStyle/>
          <a:p>
            <a:r>
              <a:rPr lang="en-GB" dirty="0"/>
              <a:t>Symmetric Cypher Model</a:t>
            </a:r>
          </a:p>
        </p:txBody>
      </p:sp>
      <p:sp>
        <p:nvSpPr>
          <p:cNvPr id="3" name="Content Placeholder 2">
            <a:extLst>
              <a:ext uri="{FF2B5EF4-FFF2-40B4-BE49-F238E27FC236}">
                <a16:creationId xmlns:a16="http://schemas.microsoft.com/office/drawing/2014/main" id="{7757339D-4EA3-CE81-0CE7-4B9F00925AE9}"/>
              </a:ext>
            </a:extLst>
          </p:cNvPr>
          <p:cNvSpPr>
            <a:spLocks noGrp="1"/>
          </p:cNvSpPr>
          <p:nvPr>
            <p:ph idx="1"/>
          </p:nvPr>
        </p:nvSpPr>
        <p:spPr/>
        <p:txBody>
          <a:bodyPr>
            <a:normAutofit/>
          </a:bodyPr>
          <a:lstStyle/>
          <a:p>
            <a:pPr marL="0" indent="0">
              <a:buNone/>
            </a:pPr>
            <a:r>
              <a:rPr lang="en-GB" dirty="0"/>
              <a:t>4. </a:t>
            </a:r>
            <a:r>
              <a:rPr lang="en-GB" dirty="0">
                <a:solidFill>
                  <a:srgbClr val="FF0000"/>
                </a:solidFill>
              </a:rPr>
              <a:t>Ciphertext</a:t>
            </a:r>
            <a:r>
              <a:rPr lang="en-GB" dirty="0"/>
              <a:t>: This is the scrambled message produced as output. It depends on the plaintext and the secret key. For a given message, two different keys will produce two different ciphertexts. The ciphertext is an apparently random stream of data and, as it stands, is unintelligible.</a:t>
            </a:r>
          </a:p>
          <a:p>
            <a:pPr marL="0" indent="0">
              <a:buNone/>
            </a:pPr>
            <a:r>
              <a:rPr lang="en-GB" dirty="0"/>
              <a:t>5. </a:t>
            </a:r>
            <a:r>
              <a:rPr lang="en-GB" dirty="0">
                <a:solidFill>
                  <a:srgbClr val="FF0000"/>
                </a:solidFill>
              </a:rPr>
              <a:t>Decryption algorithm</a:t>
            </a:r>
            <a:r>
              <a:rPr lang="en-GB" dirty="0"/>
              <a:t>: This is essentially the encryption algorithm run in reverse. It takes the ciphertext and the secret key and produces the original plaintext.</a:t>
            </a:r>
          </a:p>
        </p:txBody>
      </p:sp>
    </p:spTree>
    <p:extLst>
      <p:ext uri="{BB962C8B-B14F-4D97-AF65-F5344CB8AC3E}">
        <p14:creationId xmlns:p14="http://schemas.microsoft.com/office/powerpoint/2010/main" val="1961400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8B920-0989-5726-4036-12E8F80E93E3}"/>
              </a:ext>
            </a:extLst>
          </p:cNvPr>
          <p:cNvSpPr>
            <a:spLocks noGrp="1"/>
          </p:cNvSpPr>
          <p:nvPr>
            <p:ph type="title"/>
          </p:nvPr>
        </p:nvSpPr>
        <p:spPr/>
        <p:txBody>
          <a:bodyPr/>
          <a:lstStyle/>
          <a:p>
            <a:r>
              <a:rPr lang="en-GB" dirty="0"/>
              <a:t>Secure Encryption</a:t>
            </a:r>
          </a:p>
        </p:txBody>
      </p:sp>
      <p:sp>
        <p:nvSpPr>
          <p:cNvPr id="3" name="Content Placeholder 2">
            <a:extLst>
              <a:ext uri="{FF2B5EF4-FFF2-40B4-BE49-F238E27FC236}">
                <a16:creationId xmlns:a16="http://schemas.microsoft.com/office/drawing/2014/main" id="{4DE17B41-FEBA-9E58-D579-2C70B7292988}"/>
              </a:ext>
            </a:extLst>
          </p:cNvPr>
          <p:cNvSpPr>
            <a:spLocks noGrp="1"/>
          </p:cNvSpPr>
          <p:nvPr>
            <p:ph idx="1"/>
          </p:nvPr>
        </p:nvSpPr>
        <p:spPr/>
        <p:txBody>
          <a:bodyPr>
            <a:normAutofit/>
          </a:bodyPr>
          <a:lstStyle/>
          <a:p>
            <a:r>
              <a:rPr lang="en-GB" dirty="0"/>
              <a:t>There are two requirements for secure use of conventional encryption:</a:t>
            </a:r>
          </a:p>
          <a:p>
            <a:pPr marL="514350" indent="-514350">
              <a:buAutoNum type="arabicPeriod"/>
            </a:pPr>
            <a:r>
              <a:rPr lang="en-GB" dirty="0">
                <a:solidFill>
                  <a:srgbClr val="FF0000"/>
                </a:solidFill>
              </a:rPr>
              <a:t>We need a strong encryption algorithm.</a:t>
            </a:r>
            <a:r>
              <a:rPr lang="en-GB" dirty="0"/>
              <a:t> At a minimum, we would like the algorithm to be such that an opponent who knows the algorithm and has access to one or more ciphertexts would be unable to decipher the ciphertext or figure out the key. </a:t>
            </a:r>
          </a:p>
          <a:p>
            <a:pPr marL="0" indent="0">
              <a:buNone/>
            </a:pPr>
            <a:r>
              <a:rPr lang="en-GB" dirty="0">
                <a:solidFill>
                  <a:srgbClr val="FF0000"/>
                </a:solidFill>
              </a:rPr>
              <a:t>This requirement is usually stated in a stronger form</a:t>
            </a:r>
            <a:r>
              <a:rPr lang="en-GB" dirty="0"/>
              <a:t>: The opponent should be unable to decrypt ciphertext or discover the key even if he or she is in possession of a number of ciphertexts together with the plaintext that produced each ciphertext.</a:t>
            </a:r>
          </a:p>
        </p:txBody>
      </p:sp>
    </p:spTree>
    <p:extLst>
      <p:ext uri="{BB962C8B-B14F-4D97-AF65-F5344CB8AC3E}">
        <p14:creationId xmlns:p14="http://schemas.microsoft.com/office/powerpoint/2010/main" val="992137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8B920-0989-5726-4036-12E8F80E93E3}"/>
              </a:ext>
            </a:extLst>
          </p:cNvPr>
          <p:cNvSpPr>
            <a:spLocks noGrp="1"/>
          </p:cNvSpPr>
          <p:nvPr>
            <p:ph type="title"/>
          </p:nvPr>
        </p:nvSpPr>
        <p:spPr/>
        <p:txBody>
          <a:bodyPr/>
          <a:lstStyle/>
          <a:p>
            <a:r>
              <a:rPr lang="en-GB" dirty="0"/>
              <a:t>Secure Encryption</a:t>
            </a:r>
          </a:p>
        </p:txBody>
      </p:sp>
      <p:sp>
        <p:nvSpPr>
          <p:cNvPr id="3" name="Content Placeholder 2">
            <a:extLst>
              <a:ext uri="{FF2B5EF4-FFF2-40B4-BE49-F238E27FC236}">
                <a16:creationId xmlns:a16="http://schemas.microsoft.com/office/drawing/2014/main" id="{4DE17B41-FEBA-9E58-D579-2C70B7292988}"/>
              </a:ext>
            </a:extLst>
          </p:cNvPr>
          <p:cNvSpPr>
            <a:spLocks noGrp="1"/>
          </p:cNvSpPr>
          <p:nvPr>
            <p:ph idx="1"/>
          </p:nvPr>
        </p:nvSpPr>
        <p:spPr/>
        <p:txBody>
          <a:bodyPr>
            <a:normAutofit/>
          </a:bodyPr>
          <a:lstStyle/>
          <a:p>
            <a:pPr marL="514350" indent="-514350">
              <a:buFont typeface="+mj-lt"/>
              <a:buAutoNum type="arabicPeriod" startAt="2"/>
            </a:pPr>
            <a:r>
              <a:rPr lang="en-GB" dirty="0"/>
              <a:t>Sender and receiver must have obtained copies of the secret key in a </a:t>
            </a:r>
            <a:r>
              <a:rPr lang="en-GB" dirty="0">
                <a:solidFill>
                  <a:srgbClr val="FF0000"/>
                </a:solidFill>
              </a:rPr>
              <a:t>secure fashion </a:t>
            </a:r>
            <a:r>
              <a:rPr lang="en-GB" dirty="0"/>
              <a:t>and </a:t>
            </a:r>
            <a:r>
              <a:rPr lang="en-GB" dirty="0">
                <a:solidFill>
                  <a:srgbClr val="FF0000"/>
                </a:solidFill>
              </a:rPr>
              <a:t>must keep the key secure</a:t>
            </a:r>
            <a:r>
              <a:rPr lang="en-GB" dirty="0"/>
              <a:t>. If someone can discover the key and knows the algorithm, all communication using this key is readable.</a:t>
            </a:r>
          </a:p>
        </p:txBody>
      </p:sp>
    </p:spTree>
    <p:extLst>
      <p:ext uri="{BB962C8B-B14F-4D97-AF65-F5344CB8AC3E}">
        <p14:creationId xmlns:p14="http://schemas.microsoft.com/office/powerpoint/2010/main" val="123861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C87A-E868-9653-8C30-28D17FAE3476}"/>
              </a:ext>
            </a:extLst>
          </p:cNvPr>
          <p:cNvSpPr>
            <a:spLocks noGrp="1"/>
          </p:cNvSpPr>
          <p:nvPr>
            <p:ph type="title"/>
          </p:nvPr>
        </p:nvSpPr>
        <p:spPr/>
        <p:txBody>
          <a:bodyPr/>
          <a:lstStyle/>
          <a:p>
            <a:r>
              <a:rPr lang="en-GB" dirty="0"/>
              <a:t>Thus!!</a:t>
            </a:r>
          </a:p>
        </p:txBody>
      </p:sp>
      <p:sp>
        <p:nvSpPr>
          <p:cNvPr id="3" name="Content Placeholder 2">
            <a:extLst>
              <a:ext uri="{FF2B5EF4-FFF2-40B4-BE49-F238E27FC236}">
                <a16:creationId xmlns:a16="http://schemas.microsoft.com/office/drawing/2014/main" id="{4CEC91B4-1F8C-A42C-9C1E-3A2A697D470B}"/>
              </a:ext>
            </a:extLst>
          </p:cNvPr>
          <p:cNvSpPr>
            <a:spLocks noGrp="1"/>
          </p:cNvSpPr>
          <p:nvPr>
            <p:ph idx="1"/>
          </p:nvPr>
        </p:nvSpPr>
        <p:spPr/>
        <p:txBody>
          <a:bodyPr>
            <a:normAutofit/>
          </a:bodyPr>
          <a:lstStyle/>
          <a:p>
            <a:r>
              <a:rPr lang="en-GB" dirty="0"/>
              <a:t>It is </a:t>
            </a:r>
            <a:r>
              <a:rPr lang="en-GB" dirty="0">
                <a:solidFill>
                  <a:srgbClr val="FF0000"/>
                </a:solidFill>
              </a:rPr>
              <a:t>impractical</a:t>
            </a:r>
            <a:r>
              <a:rPr lang="en-GB" dirty="0"/>
              <a:t> to decrypt a message </a:t>
            </a:r>
            <a:r>
              <a:rPr lang="en-GB" dirty="0">
                <a:solidFill>
                  <a:srgbClr val="FF0000"/>
                </a:solidFill>
              </a:rPr>
              <a:t>on the basis of the ciphertext</a:t>
            </a:r>
            <a:r>
              <a:rPr lang="en-GB" dirty="0"/>
              <a:t> plus </a:t>
            </a:r>
            <a:r>
              <a:rPr lang="en-GB" dirty="0">
                <a:solidFill>
                  <a:srgbClr val="FF0000"/>
                </a:solidFill>
              </a:rPr>
              <a:t>knowledge of the encryption/decryption algorithm</a:t>
            </a:r>
            <a:r>
              <a:rPr lang="en-GB" dirty="0"/>
              <a:t>. </a:t>
            </a:r>
          </a:p>
          <a:p>
            <a:endParaRPr lang="en-GB" dirty="0"/>
          </a:p>
          <a:p>
            <a:r>
              <a:rPr lang="en-GB" dirty="0"/>
              <a:t>In other words, we </a:t>
            </a:r>
            <a:r>
              <a:rPr lang="en-GB" dirty="0">
                <a:solidFill>
                  <a:srgbClr val="FF0000"/>
                </a:solidFill>
              </a:rPr>
              <a:t>do not need </a:t>
            </a:r>
            <a:r>
              <a:rPr lang="en-GB" dirty="0"/>
              <a:t>to keep the </a:t>
            </a:r>
            <a:r>
              <a:rPr lang="en-GB" dirty="0">
                <a:solidFill>
                  <a:srgbClr val="FF0000"/>
                </a:solidFill>
              </a:rPr>
              <a:t>algorithm secret</a:t>
            </a:r>
            <a:r>
              <a:rPr lang="en-GB" dirty="0"/>
              <a:t>; we need to keep </a:t>
            </a:r>
            <a:r>
              <a:rPr lang="en-GB" dirty="0">
                <a:solidFill>
                  <a:srgbClr val="FF0000"/>
                </a:solidFill>
              </a:rPr>
              <a:t>only</a:t>
            </a:r>
            <a:r>
              <a:rPr lang="en-GB" dirty="0"/>
              <a:t> the </a:t>
            </a:r>
            <a:r>
              <a:rPr lang="en-GB" dirty="0">
                <a:solidFill>
                  <a:srgbClr val="FF0000"/>
                </a:solidFill>
              </a:rPr>
              <a:t>key secret</a:t>
            </a:r>
            <a:r>
              <a:rPr lang="en-GB" dirty="0"/>
              <a:t>.</a:t>
            </a:r>
          </a:p>
          <a:p>
            <a:endParaRPr lang="en-GB" dirty="0"/>
          </a:p>
          <a:p>
            <a:r>
              <a:rPr lang="en-GB" dirty="0"/>
              <a:t>With the use of symmetric encryption, the principal security problem is maintaining the secrecy of the key.</a:t>
            </a:r>
          </a:p>
        </p:txBody>
      </p:sp>
    </p:spTree>
    <p:extLst>
      <p:ext uri="{BB962C8B-B14F-4D97-AF65-F5344CB8AC3E}">
        <p14:creationId xmlns:p14="http://schemas.microsoft.com/office/powerpoint/2010/main" val="117655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722A-9EE5-00E3-6E75-9047DD138604}"/>
              </a:ext>
            </a:extLst>
          </p:cNvPr>
          <p:cNvSpPr>
            <a:spLocks noGrp="1"/>
          </p:cNvSpPr>
          <p:nvPr>
            <p:ph type="title"/>
          </p:nvPr>
        </p:nvSpPr>
        <p:spPr/>
        <p:txBody>
          <a:bodyPr/>
          <a:lstStyle/>
          <a:p>
            <a:r>
              <a:rPr lang="en-GB" dirty="0"/>
              <a:t>Process</a:t>
            </a:r>
          </a:p>
        </p:txBody>
      </p:sp>
      <p:sp>
        <p:nvSpPr>
          <p:cNvPr id="3" name="Content Placeholder 2">
            <a:extLst>
              <a:ext uri="{FF2B5EF4-FFF2-40B4-BE49-F238E27FC236}">
                <a16:creationId xmlns:a16="http://schemas.microsoft.com/office/drawing/2014/main" id="{A489F8E6-774C-69D4-7B89-94BA59087C5B}"/>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F9F0AAF-34FA-852D-4899-A916FE998805}"/>
              </a:ext>
            </a:extLst>
          </p:cNvPr>
          <p:cNvPicPr>
            <a:picLocks noChangeAspect="1"/>
          </p:cNvPicPr>
          <p:nvPr/>
        </p:nvPicPr>
        <p:blipFill>
          <a:blip r:embed="rId2"/>
          <a:stretch>
            <a:fillRect/>
          </a:stretch>
        </p:blipFill>
        <p:spPr>
          <a:xfrm>
            <a:off x="2161779" y="1939698"/>
            <a:ext cx="7641738" cy="4372202"/>
          </a:xfrm>
          <a:prstGeom prst="rect">
            <a:avLst/>
          </a:prstGeom>
        </p:spPr>
      </p:pic>
    </p:spTree>
    <p:extLst>
      <p:ext uri="{BB962C8B-B14F-4D97-AF65-F5344CB8AC3E}">
        <p14:creationId xmlns:p14="http://schemas.microsoft.com/office/powerpoint/2010/main" val="203518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722A-9EE5-00E3-6E75-9047DD138604}"/>
              </a:ext>
            </a:extLst>
          </p:cNvPr>
          <p:cNvSpPr>
            <a:spLocks noGrp="1"/>
          </p:cNvSpPr>
          <p:nvPr>
            <p:ph type="title"/>
          </p:nvPr>
        </p:nvSpPr>
        <p:spPr/>
        <p:txBody>
          <a:bodyPr/>
          <a:lstStyle/>
          <a:p>
            <a:r>
              <a:rPr lang="en-GB" dirty="0"/>
              <a:t>Process</a:t>
            </a:r>
          </a:p>
        </p:txBody>
      </p:sp>
      <p:sp>
        <p:nvSpPr>
          <p:cNvPr id="3" name="Content Placeholder 2">
            <a:extLst>
              <a:ext uri="{FF2B5EF4-FFF2-40B4-BE49-F238E27FC236}">
                <a16:creationId xmlns:a16="http://schemas.microsoft.com/office/drawing/2014/main" id="{A489F8E6-774C-69D4-7B89-94BA59087C5B}"/>
              </a:ext>
            </a:extLst>
          </p:cNvPr>
          <p:cNvSpPr>
            <a:spLocks noGrp="1"/>
          </p:cNvSpPr>
          <p:nvPr>
            <p:ph idx="1"/>
          </p:nvPr>
        </p:nvSpPr>
        <p:spPr/>
        <p:txBody>
          <a:bodyPr/>
          <a:lstStyle/>
          <a:p>
            <a:r>
              <a:rPr lang="en-GB" dirty="0"/>
              <a:t>The notation Y = E(K, X) indicates that is produced by using </a:t>
            </a:r>
            <a:r>
              <a:rPr lang="en-GB" dirty="0">
                <a:solidFill>
                  <a:srgbClr val="FF0000"/>
                </a:solidFill>
              </a:rPr>
              <a:t>encryption algorithm </a:t>
            </a:r>
            <a:r>
              <a:rPr lang="en-GB" dirty="0"/>
              <a:t>E as a </a:t>
            </a:r>
            <a:r>
              <a:rPr lang="en-GB" dirty="0">
                <a:solidFill>
                  <a:srgbClr val="FF0000"/>
                </a:solidFill>
              </a:rPr>
              <a:t>function of the plaintext </a:t>
            </a:r>
            <a:r>
              <a:rPr lang="en-GB" dirty="0"/>
              <a:t>, with the specific function </a:t>
            </a:r>
            <a:r>
              <a:rPr lang="en-GB" dirty="0">
                <a:solidFill>
                  <a:srgbClr val="FF0000"/>
                </a:solidFill>
              </a:rPr>
              <a:t>determined by the value of the key</a:t>
            </a:r>
            <a:r>
              <a:rPr lang="en-GB" dirty="0"/>
              <a:t>.</a:t>
            </a:r>
          </a:p>
          <a:p>
            <a:endParaRPr lang="en-GB" dirty="0"/>
          </a:p>
          <a:p>
            <a:r>
              <a:rPr lang="en-GB" dirty="0"/>
              <a:t>The intended receiver, </a:t>
            </a:r>
            <a:r>
              <a:rPr lang="en-GB" dirty="0">
                <a:solidFill>
                  <a:srgbClr val="FF0000"/>
                </a:solidFill>
              </a:rPr>
              <a:t>in possession of the key</a:t>
            </a:r>
            <a:r>
              <a:rPr lang="en-GB" dirty="0"/>
              <a:t>, is able to </a:t>
            </a:r>
            <a:r>
              <a:rPr lang="en-GB" dirty="0">
                <a:solidFill>
                  <a:srgbClr val="FF0000"/>
                </a:solidFill>
              </a:rPr>
              <a:t>invert </a:t>
            </a:r>
            <a:r>
              <a:rPr lang="en-GB" dirty="0"/>
              <a:t>the transformation: X = D(K, Y)</a:t>
            </a:r>
          </a:p>
        </p:txBody>
      </p:sp>
    </p:spTree>
    <p:extLst>
      <p:ext uri="{BB962C8B-B14F-4D97-AF65-F5344CB8AC3E}">
        <p14:creationId xmlns:p14="http://schemas.microsoft.com/office/powerpoint/2010/main" val="1520403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DA34-C42C-BC21-B3F6-210C34BD8697}"/>
              </a:ext>
            </a:extLst>
          </p:cNvPr>
          <p:cNvSpPr>
            <a:spLocks noGrp="1"/>
          </p:cNvSpPr>
          <p:nvPr>
            <p:ph type="title"/>
          </p:nvPr>
        </p:nvSpPr>
        <p:spPr/>
        <p:txBody>
          <a:bodyPr/>
          <a:lstStyle/>
          <a:p>
            <a:r>
              <a:rPr lang="en-GB" dirty="0"/>
              <a:t>Hack!!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CDFD103-9D78-D1F0-4057-D4EC17BAEC21}"/>
                  </a:ext>
                </a:extLst>
              </p:cNvPr>
              <p:cNvSpPr>
                <a:spLocks noGrp="1"/>
              </p:cNvSpPr>
              <p:nvPr>
                <p:ph idx="1"/>
              </p:nvPr>
            </p:nvSpPr>
            <p:spPr/>
            <p:txBody>
              <a:bodyPr>
                <a:normAutofit/>
              </a:bodyPr>
              <a:lstStyle/>
              <a:p>
                <a:r>
                  <a:rPr lang="en-GB" dirty="0"/>
                  <a:t>An opponent, observing but not having access to or , may attempt to recover X or K or both X and K. </a:t>
                </a:r>
              </a:p>
              <a:p>
                <a:r>
                  <a:rPr lang="en-GB" dirty="0"/>
                  <a:t>It is assumed that the opponent knows the encryption (E) and decryption (D) algorithms. </a:t>
                </a:r>
              </a:p>
              <a:p>
                <a:r>
                  <a:rPr lang="en-GB" dirty="0"/>
                  <a:t>If the opponent is interested in only this particular message, then the focus of the effort is to recover X by generating a plaintext estimate </a:t>
                </a:r>
                <a14:m>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𝑋</m:t>
                        </m:r>
                      </m:e>
                    </m:acc>
                  </m:oMath>
                </a14:m>
                <a:r>
                  <a:rPr lang="en-GB" dirty="0"/>
                  <a:t>. </a:t>
                </a:r>
              </a:p>
              <a:p>
                <a:r>
                  <a:rPr lang="en-GB" dirty="0"/>
                  <a:t>Often, however, the opponent is interested in being able to read future messages as well, in which case an attempt is made to recover K by generating an estimate </a:t>
                </a:r>
                <a14:m>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𝐾</m:t>
                        </m:r>
                      </m:e>
                    </m:acc>
                  </m:oMath>
                </a14:m>
                <a:r>
                  <a:rPr lang="en-GB" dirty="0"/>
                  <a:t>.</a:t>
                </a:r>
              </a:p>
            </p:txBody>
          </p:sp>
        </mc:Choice>
        <mc:Fallback>
          <p:sp>
            <p:nvSpPr>
              <p:cNvPr id="3" name="Content Placeholder 2">
                <a:extLst>
                  <a:ext uri="{FF2B5EF4-FFF2-40B4-BE49-F238E27FC236}">
                    <a16:creationId xmlns:a16="http://schemas.microsoft.com/office/drawing/2014/main" id="{8CDFD103-9D78-D1F0-4057-D4EC17BAEC21}"/>
                  </a:ext>
                </a:extLst>
              </p:cNvPr>
              <p:cNvSpPr>
                <a:spLocks noGrp="1" noRot="1" noChangeAspect="1" noMove="1" noResize="1" noEditPoints="1" noAdjustHandles="1" noChangeArrowheads="1" noChangeShapeType="1" noTextEdit="1"/>
              </p:cNvSpPr>
              <p:nvPr>
                <p:ph idx="1"/>
              </p:nvPr>
            </p:nvSpPr>
            <p:spPr>
              <a:blipFill>
                <a:blip r:embed="rId2"/>
                <a:stretch>
                  <a:fillRect l="-1043" t="-2381" r="-870" b="-3501"/>
                </a:stretch>
              </a:blipFill>
            </p:spPr>
            <p:txBody>
              <a:bodyPr/>
              <a:lstStyle/>
              <a:p>
                <a:r>
                  <a:rPr lang="en-GB">
                    <a:noFill/>
                  </a:rPr>
                  <a:t> </a:t>
                </a:r>
              </a:p>
            </p:txBody>
          </p:sp>
        </mc:Fallback>
      </mc:AlternateContent>
    </p:spTree>
    <p:extLst>
      <p:ext uri="{BB962C8B-B14F-4D97-AF65-F5344CB8AC3E}">
        <p14:creationId xmlns:p14="http://schemas.microsoft.com/office/powerpoint/2010/main" val="378320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7061-B446-CA7C-85EF-426D374AA442}"/>
              </a:ext>
            </a:extLst>
          </p:cNvPr>
          <p:cNvSpPr>
            <a:spLocks noGrp="1"/>
          </p:cNvSpPr>
          <p:nvPr>
            <p:ph type="title"/>
          </p:nvPr>
        </p:nvSpPr>
        <p:spPr/>
        <p:txBody>
          <a:bodyPr/>
          <a:lstStyle/>
          <a:p>
            <a:r>
              <a:rPr lang="en-GB" dirty="0"/>
              <a:t>Cryptography</a:t>
            </a:r>
          </a:p>
        </p:txBody>
      </p:sp>
      <p:sp>
        <p:nvSpPr>
          <p:cNvPr id="3" name="Content Placeholder 2">
            <a:extLst>
              <a:ext uri="{FF2B5EF4-FFF2-40B4-BE49-F238E27FC236}">
                <a16:creationId xmlns:a16="http://schemas.microsoft.com/office/drawing/2014/main" id="{37D0DA75-1416-B0B4-EB15-9D1DB21AB521}"/>
              </a:ext>
            </a:extLst>
          </p:cNvPr>
          <p:cNvSpPr>
            <a:spLocks noGrp="1"/>
          </p:cNvSpPr>
          <p:nvPr>
            <p:ph idx="1"/>
          </p:nvPr>
        </p:nvSpPr>
        <p:spPr/>
        <p:txBody>
          <a:bodyPr>
            <a:normAutofit lnSpcReduction="10000"/>
          </a:bodyPr>
          <a:lstStyle/>
          <a:p>
            <a:r>
              <a:rPr lang="en-GB" dirty="0"/>
              <a:t>Cryptographic systems are characterized along three independent dimensions:</a:t>
            </a:r>
          </a:p>
          <a:p>
            <a:pPr marL="0" indent="0">
              <a:buNone/>
            </a:pPr>
            <a:r>
              <a:rPr lang="en-GB" dirty="0"/>
              <a:t>1. </a:t>
            </a:r>
            <a:r>
              <a:rPr lang="en-GB" dirty="0">
                <a:solidFill>
                  <a:srgbClr val="FF0000"/>
                </a:solidFill>
              </a:rPr>
              <a:t>The type of operations used for transforming plaintext to ciphertext. </a:t>
            </a:r>
            <a:r>
              <a:rPr lang="en-GB" dirty="0"/>
              <a:t>All encryption algorithms are based on two general principles: </a:t>
            </a:r>
            <a:r>
              <a:rPr lang="en-GB" dirty="0">
                <a:solidFill>
                  <a:srgbClr val="FF0000"/>
                </a:solidFill>
              </a:rPr>
              <a:t>substitution</a:t>
            </a:r>
            <a:r>
              <a:rPr lang="en-GB" dirty="0"/>
              <a:t>, in which each element in the plaintext (bit, letter, group of bits or letters) is mapped into another element, and </a:t>
            </a:r>
            <a:r>
              <a:rPr lang="en-GB" dirty="0">
                <a:solidFill>
                  <a:srgbClr val="FF0000"/>
                </a:solidFill>
              </a:rPr>
              <a:t>transposition</a:t>
            </a:r>
            <a:r>
              <a:rPr lang="en-GB" dirty="0"/>
              <a:t>, in which elements in the plaintext are rearranged. The </a:t>
            </a:r>
            <a:r>
              <a:rPr lang="en-GB" dirty="0">
                <a:solidFill>
                  <a:srgbClr val="FF0000"/>
                </a:solidFill>
              </a:rPr>
              <a:t>fundamental requirement </a:t>
            </a:r>
            <a:r>
              <a:rPr lang="en-GB" dirty="0"/>
              <a:t>is that </a:t>
            </a:r>
            <a:r>
              <a:rPr lang="en-GB" dirty="0">
                <a:solidFill>
                  <a:srgbClr val="FF0000"/>
                </a:solidFill>
              </a:rPr>
              <a:t>no information be lost </a:t>
            </a:r>
            <a:r>
              <a:rPr lang="en-GB" dirty="0"/>
              <a:t>(that is, that all operations are reversible). Most systems, referred to as product systems, involve multiple stages of substitutions and transpositions.</a:t>
            </a:r>
          </a:p>
        </p:txBody>
      </p:sp>
    </p:spTree>
    <p:extLst>
      <p:ext uri="{BB962C8B-B14F-4D97-AF65-F5344CB8AC3E}">
        <p14:creationId xmlns:p14="http://schemas.microsoft.com/office/powerpoint/2010/main" val="4148165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7061-B446-CA7C-85EF-426D374AA442}"/>
              </a:ext>
            </a:extLst>
          </p:cNvPr>
          <p:cNvSpPr>
            <a:spLocks noGrp="1"/>
          </p:cNvSpPr>
          <p:nvPr>
            <p:ph type="title"/>
          </p:nvPr>
        </p:nvSpPr>
        <p:spPr/>
        <p:txBody>
          <a:bodyPr/>
          <a:lstStyle/>
          <a:p>
            <a:r>
              <a:rPr lang="en-GB" dirty="0"/>
              <a:t>Cryptography</a:t>
            </a:r>
          </a:p>
        </p:txBody>
      </p:sp>
      <p:sp>
        <p:nvSpPr>
          <p:cNvPr id="3" name="Content Placeholder 2">
            <a:extLst>
              <a:ext uri="{FF2B5EF4-FFF2-40B4-BE49-F238E27FC236}">
                <a16:creationId xmlns:a16="http://schemas.microsoft.com/office/drawing/2014/main" id="{37D0DA75-1416-B0B4-EB15-9D1DB21AB521}"/>
              </a:ext>
            </a:extLst>
          </p:cNvPr>
          <p:cNvSpPr>
            <a:spLocks noGrp="1"/>
          </p:cNvSpPr>
          <p:nvPr>
            <p:ph idx="1"/>
          </p:nvPr>
        </p:nvSpPr>
        <p:spPr/>
        <p:txBody>
          <a:bodyPr>
            <a:normAutofit/>
          </a:bodyPr>
          <a:lstStyle/>
          <a:p>
            <a:pPr marL="0" indent="0">
              <a:buNone/>
            </a:pPr>
            <a:r>
              <a:rPr lang="en-GB" dirty="0"/>
              <a:t>2. </a:t>
            </a:r>
            <a:r>
              <a:rPr lang="en-GB" dirty="0">
                <a:solidFill>
                  <a:srgbClr val="FF0000"/>
                </a:solidFill>
              </a:rPr>
              <a:t>The number of keys used</a:t>
            </a:r>
            <a:r>
              <a:rPr lang="en-GB" dirty="0"/>
              <a:t>. If both sender and receiver use the same key, the system is referred to as </a:t>
            </a:r>
            <a:r>
              <a:rPr lang="en-GB" dirty="0">
                <a:solidFill>
                  <a:srgbClr val="FF0000"/>
                </a:solidFill>
              </a:rPr>
              <a:t>symmetric</a:t>
            </a:r>
            <a:r>
              <a:rPr lang="en-GB" dirty="0"/>
              <a:t>, single-key, secret-key, or conventional encryption. If the sender and receiver use different keys, the system is referred to as </a:t>
            </a:r>
            <a:r>
              <a:rPr lang="en-GB" dirty="0">
                <a:solidFill>
                  <a:srgbClr val="FF0000"/>
                </a:solidFill>
              </a:rPr>
              <a:t>asymmetric</a:t>
            </a:r>
            <a:r>
              <a:rPr lang="en-GB" dirty="0"/>
              <a:t>, two-key, or public-key encryption.</a:t>
            </a:r>
          </a:p>
        </p:txBody>
      </p:sp>
    </p:spTree>
    <p:extLst>
      <p:ext uri="{BB962C8B-B14F-4D97-AF65-F5344CB8AC3E}">
        <p14:creationId xmlns:p14="http://schemas.microsoft.com/office/powerpoint/2010/main" val="1610942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7061-B446-CA7C-85EF-426D374AA442}"/>
              </a:ext>
            </a:extLst>
          </p:cNvPr>
          <p:cNvSpPr>
            <a:spLocks noGrp="1"/>
          </p:cNvSpPr>
          <p:nvPr>
            <p:ph type="title"/>
          </p:nvPr>
        </p:nvSpPr>
        <p:spPr/>
        <p:txBody>
          <a:bodyPr/>
          <a:lstStyle/>
          <a:p>
            <a:r>
              <a:rPr lang="en-GB" dirty="0"/>
              <a:t>Cryptography</a:t>
            </a:r>
          </a:p>
        </p:txBody>
      </p:sp>
      <p:sp>
        <p:nvSpPr>
          <p:cNvPr id="3" name="Content Placeholder 2">
            <a:extLst>
              <a:ext uri="{FF2B5EF4-FFF2-40B4-BE49-F238E27FC236}">
                <a16:creationId xmlns:a16="http://schemas.microsoft.com/office/drawing/2014/main" id="{37D0DA75-1416-B0B4-EB15-9D1DB21AB521}"/>
              </a:ext>
            </a:extLst>
          </p:cNvPr>
          <p:cNvSpPr>
            <a:spLocks noGrp="1"/>
          </p:cNvSpPr>
          <p:nvPr>
            <p:ph idx="1"/>
          </p:nvPr>
        </p:nvSpPr>
        <p:spPr/>
        <p:txBody>
          <a:bodyPr>
            <a:normAutofit/>
          </a:bodyPr>
          <a:lstStyle/>
          <a:p>
            <a:pPr marL="0" indent="0">
              <a:buNone/>
            </a:pPr>
            <a:r>
              <a:rPr lang="en-GB" dirty="0"/>
              <a:t>3. </a:t>
            </a:r>
            <a:r>
              <a:rPr lang="en-GB" dirty="0">
                <a:solidFill>
                  <a:srgbClr val="FF0000"/>
                </a:solidFill>
              </a:rPr>
              <a:t>The way in which the plaintext is processed</a:t>
            </a:r>
            <a:r>
              <a:rPr lang="en-GB" dirty="0"/>
              <a:t>. A </a:t>
            </a:r>
            <a:r>
              <a:rPr lang="en-GB" dirty="0">
                <a:solidFill>
                  <a:srgbClr val="FF0000"/>
                </a:solidFill>
              </a:rPr>
              <a:t>block cipher </a:t>
            </a:r>
            <a:r>
              <a:rPr lang="en-GB" dirty="0"/>
              <a:t>processes the input one block of elements at a time, producing an output block for each input block. A </a:t>
            </a:r>
            <a:r>
              <a:rPr lang="en-GB" dirty="0">
                <a:solidFill>
                  <a:srgbClr val="FF0000"/>
                </a:solidFill>
              </a:rPr>
              <a:t>stream cipher </a:t>
            </a:r>
            <a:r>
              <a:rPr lang="en-GB" dirty="0"/>
              <a:t>processes the input elements continuously, producing output one element at a time, as it goes along.</a:t>
            </a:r>
          </a:p>
        </p:txBody>
      </p:sp>
    </p:spTree>
    <p:extLst>
      <p:ext uri="{BB962C8B-B14F-4D97-AF65-F5344CB8AC3E}">
        <p14:creationId xmlns:p14="http://schemas.microsoft.com/office/powerpoint/2010/main" val="3691211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E483-0250-9360-7EFC-A3501FEE1CA2}"/>
              </a:ext>
            </a:extLst>
          </p:cNvPr>
          <p:cNvSpPr>
            <a:spLocks noGrp="1"/>
          </p:cNvSpPr>
          <p:nvPr>
            <p:ph type="title"/>
          </p:nvPr>
        </p:nvSpPr>
        <p:spPr/>
        <p:txBody>
          <a:bodyPr/>
          <a:lstStyle/>
          <a:p>
            <a:r>
              <a:rPr lang="en-GB" dirty="0"/>
              <a:t>Attacks!!</a:t>
            </a:r>
          </a:p>
        </p:txBody>
      </p:sp>
      <p:sp>
        <p:nvSpPr>
          <p:cNvPr id="3" name="Content Placeholder 2">
            <a:extLst>
              <a:ext uri="{FF2B5EF4-FFF2-40B4-BE49-F238E27FC236}">
                <a16:creationId xmlns:a16="http://schemas.microsoft.com/office/drawing/2014/main" id="{8FCABB40-DE6D-73A9-8AC5-DE6F4C20008F}"/>
              </a:ext>
            </a:extLst>
          </p:cNvPr>
          <p:cNvSpPr>
            <a:spLocks noGrp="1"/>
          </p:cNvSpPr>
          <p:nvPr>
            <p:ph idx="1"/>
          </p:nvPr>
        </p:nvSpPr>
        <p:spPr/>
        <p:txBody>
          <a:bodyPr>
            <a:normAutofit fontScale="92500"/>
          </a:bodyPr>
          <a:lstStyle/>
          <a:p>
            <a:r>
              <a:rPr lang="en-GB" dirty="0"/>
              <a:t>Typically, the objective of attacking an encryption system is to recover the key in use rather than simply to recover the plaintext of a single ciphertext.</a:t>
            </a:r>
          </a:p>
          <a:p>
            <a:endParaRPr lang="en-GB" dirty="0"/>
          </a:p>
          <a:p>
            <a:r>
              <a:rPr lang="en-GB" dirty="0">
                <a:solidFill>
                  <a:srgbClr val="FF0000"/>
                </a:solidFill>
              </a:rPr>
              <a:t>Cryptanalysis</a:t>
            </a:r>
            <a:r>
              <a:rPr lang="en-GB" dirty="0"/>
              <a:t>: Cryptanalytic attacks rely on the nature of the algorithm plus perhaps some knowledge of the general characteristics of the plaintext or even some sample plaintext–ciphertext pairs. </a:t>
            </a:r>
          </a:p>
          <a:p>
            <a:endParaRPr lang="en-GB" dirty="0"/>
          </a:p>
          <a:p>
            <a:r>
              <a:rPr lang="en-GB" dirty="0"/>
              <a:t>This type of attack exploits the characteristics of the algorithm to attempt to deduce a specific plaintext or to deduce the key being used.</a:t>
            </a:r>
          </a:p>
        </p:txBody>
      </p:sp>
    </p:spTree>
    <p:extLst>
      <p:ext uri="{BB962C8B-B14F-4D97-AF65-F5344CB8AC3E}">
        <p14:creationId xmlns:p14="http://schemas.microsoft.com/office/powerpoint/2010/main" val="382150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E483-0250-9360-7EFC-A3501FEE1CA2}"/>
              </a:ext>
            </a:extLst>
          </p:cNvPr>
          <p:cNvSpPr>
            <a:spLocks noGrp="1"/>
          </p:cNvSpPr>
          <p:nvPr>
            <p:ph type="title"/>
          </p:nvPr>
        </p:nvSpPr>
        <p:spPr/>
        <p:txBody>
          <a:bodyPr/>
          <a:lstStyle/>
          <a:p>
            <a:r>
              <a:rPr lang="en-GB" dirty="0"/>
              <a:t>Attacks!!</a:t>
            </a:r>
          </a:p>
        </p:txBody>
      </p:sp>
      <p:sp>
        <p:nvSpPr>
          <p:cNvPr id="3" name="Content Placeholder 2">
            <a:extLst>
              <a:ext uri="{FF2B5EF4-FFF2-40B4-BE49-F238E27FC236}">
                <a16:creationId xmlns:a16="http://schemas.microsoft.com/office/drawing/2014/main" id="{8FCABB40-DE6D-73A9-8AC5-DE6F4C20008F}"/>
              </a:ext>
            </a:extLst>
          </p:cNvPr>
          <p:cNvSpPr>
            <a:spLocks noGrp="1"/>
          </p:cNvSpPr>
          <p:nvPr>
            <p:ph idx="1"/>
          </p:nvPr>
        </p:nvSpPr>
        <p:spPr/>
        <p:txBody>
          <a:bodyPr>
            <a:normAutofit/>
          </a:bodyPr>
          <a:lstStyle/>
          <a:p>
            <a:r>
              <a:rPr lang="en-GB" dirty="0">
                <a:solidFill>
                  <a:srgbClr val="FF0000"/>
                </a:solidFill>
              </a:rPr>
              <a:t>Brute-force attack</a:t>
            </a:r>
            <a:r>
              <a:rPr lang="en-GB" dirty="0"/>
              <a:t>: The attacker tries every possible key on a piece of ciphertext until an intelligible translation into plaintext is obtained. On average, half of all possible keys must be tried to achieve success.</a:t>
            </a:r>
          </a:p>
        </p:txBody>
      </p:sp>
    </p:spTree>
    <p:extLst>
      <p:ext uri="{BB962C8B-B14F-4D97-AF65-F5344CB8AC3E}">
        <p14:creationId xmlns:p14="http://schemas.microsoft.com/office/powerpoint/2010/main" val="2839677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A881B-1251-A059-96A8-16E844E8D87A}"/>
              </a:ext>
            </a:extLst>
          </p:cNvPr>
          <p:cNvSpPr>
            <a:spLocks noGrp="1"/>
          </p:cNvSpPr>
          <p:nvPr>
            <p:ph type="title"/>
          </p:nvPr>
        </p:nvSpPr>
        <p:spPr/>
        <p:txBody>
          <a:bodyPr/>
          <a:lstStyle/>
          <a:p>
            <a:r>
              <a:rPr lang="en-GB" dirty="0"/>
              <a:t>Unconditionally vs Computationally Secure</a:t>
            </a:r>
          </a:p>
        </p:txBody>
      </p:sp>
      <p:sp>
        <p:nvSpPr>
          <p:cNvPr id="3" name="Content Placeholder 2">
            <a:extLst>
              <a:ext uri="{FF2B5EF4-FFF2-40B4-BE49-F238E27FC236}">
                <a16:creationId xmlns:a16="http://schemas.microsoft.com/office/drawing/2014/main" id="{74CAE3B2-2DAB-7652-7C9D-B0E5DA68CE6D}"/>
              </a:ext>
            </a:extLst>
          </p:cNvPr>
          <p:cNvSpPr>
            <a:spLocks noGrp="1"/>
          </p:cNvSpPr>
          <p:nvPr>
            <p:ph idx="1"/>
          </p:nvPr>
        </p:nvSpPr>
        <p:spPr/>
        <p:txBody>
          <a:bodyPr>
            <a:normAutofit/>
          </a:bodyPr>
          <a:lstStyle/>
          <a:p>
            <a:r>
              <a:rPr lang="en-GB" dirty="0"/>
              <a:t>An encryption scheme is </a:t>
            </a:r>
            <a:r>
              <a:rPr lang="en-GB" dirty="0">
                <a:solidFill>
                  <a:srgbClr val="FF0000"/>
                </a:solidFill>
              </a:rPr>
              <a:t>unconditionally secure </a:t>
            </a:r>
            <a:r>
              <a:rPr lang="en-GB" dirty="0"/>
              <a:t>if the ciphertext generated by the scheme does not contain enough information to determine uniquely the corresponding plaintext, no matter how much ciphertext is available.</a:t>
            </a:r>
          </a:p>
          <a:p>
            <a:r>
              <a:rPr lang="en-GB" dirty="0"/>
              <a:t>An encryption scheme is said to be </a:t>
            </a:r>
            <a:r>
              <a:rPr lang="en-GB" dirty="0">
                <a:solidFill>
                  <a:srgbClr val="FF0000"/>
                </a:solidFill>
              </a:rPr>
              <a:t>computationally secure </a:t>
            </a:r>
            <a:r>
              <a:rPr lang="en-GB" dirty="0"/>
              <a:t>if either of the following to criteria are met:</a:t>
            </a:r>
          </a:p>
          <a:p>
            <a:pPr marL="0" indent="0">
              <a:buNone/>
            </a:pPr>
            <a:r>
              <a:rPr lang="en-GB" dirty="0"/>
              <a:t>1. The cost of breaking the cipher exceeds the value of the encrypted information.</a:t>
            </a:r>
          </a:p>
          <a:p>
            <a:pPr marL="0" indent="0">
              <a:buNone/>
            </a:pPr>
            <a:r>
              <a:rPr lang="en-GB" dirty="0"/>
              <a:t>2. The time required to break the cipher exceeds the useful lifetime of the information.</a:t>
            </a:r>
          </a:p>
        </p:txBody>
      </p:sp>
    </p:spTree>
    <p:extLst>
      <p:ext uri="{BB962C8B-B14F-4D97-AF65-F5344CB8AC3E}">
        <p14:creationId xmlns:p14="http://schemas.microsoft.com/office/powerpoint/2010/main" val="2342000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2449-B45F-AD34-E0B3-B2DBE5C72CD3}"/>
              </a:ext>
            </a:extLst>
          </p:cNvPr>
          <p:cNvSpPr>
            <a:spLocks noGrp="1"/>
          </p:cNvSpPr>
          <p:nvPr>
            <p:ph type="title"/>
          </p:nvPr>
        </p:nvSpPr>
        <p:spPr/>
        <p:txBody>
          <a:bodyPr/>
          <a:lstStyle/>
          <a:p>
            <a:r>
              <a:rPr lang="en-GB" dirty="0"/>
              <a:t>Computationally Secure</a:t>
            </a:r>
          </a:p>
        </p:txBody>
      </p:sp>
      <p:sp>
        <p:nvSpPr>
          <p:cNvPr id="3" name="Content Placeholder 2">
            <a:extLst>
              <a:ext uri="{FF2B5EF4-FFF2-40B4-BE49-F238E27FC236}">
                <a16:creationId xmlns:a16="http://schemas.microsoft.com/office/drawing/2014/main" id="{189FB815-DE3A-402F-32BF-C29F95D353E6}"/>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F4DD436-BCC1-AC3A-668B-648E15EB98F9}"/>
              </a:ext>
            </a:extLst>
          </p:cNvPr>
          <p:cNvPicPr>
            <a:picLocks noChangeAspect="1"/>
          </p:cNvPicPr>
          <p:nvPr/>
        </p:nvPicPr>
        <p:blipFill>
          <a:blip r:embed="rId2"/>
          <a:stretch>
            <a:fillRect/>
          </a:stretch>
        </p:blipFill>
        <p:spPr>
          <a:xfrm>
            <a:off x="838200" y="2068200"/>
            <a:ext cx="10493937" cy="3866187"/>
          </a:xfrm>
          <a:prstGeom prst="rect">
            <a:avLst/>
          </a:prstGeom>
        </p:spPr>
      </p:pic>
    </p:spTree>
    <p:extLst>
      <p:ext uri="{BB962C8B-B14F-4D97-AF65-F5344CB8AC3E}">
        <p14:creationId xmlns:p14="http://schemas.microsoft.com/office/powerpoint/2010/main" val="1058339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735A-DE89-CF1D-4CE3-A7755902F23E}"/>
              </a:ext>
            </a:extLst>
          </p:cNvPr>
          <p:cNvSpPr>
            <a:spLocks noGrp="1"/>
          </p:cNvSpPr>
          <p:nvPr>
            <p:ph type="title"/>
          </p:nvPr>
        </p:nvSpPr>
        <p:spPr/>
        <p:txBody>
          <a:bodyPr/>
          <a:lstStyle/>
          <a:p>
            <a:r>
              <a:rPr lang="en-GB" dirty="0"/>
              <a:t>Symmetric Encryption Techniques</a:t>
            </a:r>
          </a:p>
        </p:txBody>
      </p:sp>
      <p:sp>
        <p:nvSpPr>
          <p:cNvPr id="3" name="Content Placeholder 2">
            <a:extLst>
              <a:ext uri="{FF2B5EF4-FFF2-40B4-BE49-F238E27FC236}">
                <a16:creationId xmlns:a16="http://schemas.microsoft.com/office/drawing/2014/main" id="{A6DB4014-3133-0C28-C38A-754227725613}"/>
              </a:ext>
            </a:extLst>
          </p:cNvPr>
          <p:cNvSpPr>
            <a:spLocks noGrp="1"/>
          </p:cNvSpPr>
          <p:nvPr>
            <p:ph idx="1"/>
          </p:nvPr>
        </p:nvSpPr>
        <p:spPr/>
        <p:txBody>
          <a:bodyPr/>
          <a:lstStyle/>
          <a:p>
            <a:r>
              <a:rPr lang="en-GB" dirty="0"/>
              <a:t>Substitution Technique (Caesar cypher)</a:t>
            </a:r>
          </a:p>
          <a:p>
            <a:r>
              <a:rPr lang="en-GB" dirty="0"/>
              <a:t>Transposition Technique (rail fence)</a:t>
            </a:r>
          </a:p>
          <a:p>
            <a:endParaRPr lang="en-GB" dirty="0"/>
          </a:p>
          <a:p>
            <a:pPr marL="0" indent="0">
              <a:buNone/>
            </a:pPr>
            <a:r>
              <a:rPr lang="en-GB" dirty="0">
                <a:hlinkClick r:id="rId2"/>
              </a:rPr>
              <a:t>https://www.cryptool.org/en/cto/</a:t>
            </a:r>
            <a:endParaRPr lang="en-GB" dirty="0"/>
          </a:p>
          <a:p>
            <a:pPr marL="0" indent="0">
              <a:buNone/>
            </a:pPr>
            <a:r>
              <a:rPr lang="en-GB" dirty="0">
                <a:hlinkClick r:id="rId3"/>
              </a:rPr>
              <a:t>https://www.dcode.fr/columnar-transposition-cipher</a:t>
            </a:r>
            <a:endParaRPr lang="en-GB" dirty="0"/>
          </a:p>
          <a:p>
            <a:pPr marL="0" indent="0">
              <a:buNone/>
            </a:pPr>
            <a:endParaRPr lang="en-GB" dirty="0"/>
          </a:p>
        </p:txBody>
      </p:sp>
    </p:spTree>
    <p:extLst>
      <p:ext uri="{BB962C8B-B14F-4D97-AF65-F5344CB8AC3E}">
        <p14:creationId xmlns:p14="http://schemas.microsoft.com/office/powerpoint/2010/main" val="3661222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1079</Words>
  <Application>Microsoft Office PowerPoint</Application>
  <PresentationFormat>Widescreen</PresentationFormat>
  <Paragraphs>65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Cambria Math</vt:lpstr>
      <vt:lpstr>Office Theme</vt:lpstr>
      <vt:lpstr>Classical Encryption Techniques</vt:lpstr>
      <vt:lpstr>Content</vt:lpstr>
      <vt:lpstr>Symmetric Cypher Model</vt:lpstr>
      <vt:lpstr>Symmetric Cypher Model</vt:lpstr>
      <vt:lpstr>Symmetric Cypher Model</vt:lpstr>
      <vt:lpstr>Secure Encryption</vt:lpstr>
      <vt:lpstr>Secure Encryption</vt:lpstr>
      <vt:lpstr>Thus!!</vt:lpstr>
      <vt:lpstr>Process</vt:lpstr>
      <vt:lpstr>Process</vt:lpstr>
      <vt:lpstr>Hack!!</vt:lpstr>
      <vt:lpstr>Cryptography</vt:lpstr>
      <vt:lpstr>Cryptography</vt:lpstr>
      <vt:lpstr>Cryptography</vt:lpstr>
      <vt:lpstr>Attacks!!</vt:lpstr>
      <vt:lpstr>Attacks!!</vt:lpstr>
      <vt:lpstr>Unconditionally vs Computationally Secure</vt:lpstr>
      <vt:lpstr>Computationally Secure</vt:lpstr>
      <vt:lpstr>Symmetric Encryption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Nachiket Tapas</dc:creator>
  <cp:lastModifiedBy>Nachiket Tapas</cp:lastModifiedBy>
  <cp:revision>41</cp:revision>
  <dcterms:created xsi:type="dcterms:W3CDTF">2024-09-05T05:47:32Z</dcterms:created>
  <dcterms:modified xsi:type="dcterms:W3CDTF">2024-09-09T03:47:43Z</dcterms:modified>
</cp:coreProperties>
</file>